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48840"/>
            <a:ext cx="219456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3172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3A5F"/>
                </a:solidFill>
                <a:latin typeface="Arial"/>
              </a:rPr>
              <a:t>GENT  →  MECHELEN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1A1A1A"/>
                </a:solidFill>
                <a:latin typeface="Georgia"/>
              </a:rPr>
              <a:t>Slimmer pendelen — wat de data écht zegt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069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747C"/>
                </a:solidFill>
                <a:latin typeface="Arial"/>
              </a:rPr>
              <a:t>Auto, trein of thuiswerken? Een eerlijk verhaal over een machine-learning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806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Laure · Jack · Maxime · Marc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E747C"/>
                </a:solidFill>
                <a:latin typeface="Arial"/>
              </a:rPr>
              <a:t>Syntra Mechelen — 23 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DE VRAAG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Elke ochtend één keuze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2185416"/>
            <a:ext cx="164592" cy="254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39112"/>
            <a:ext cx="105064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392B"/>
                </a:solidFill>
                <a:latin typeface="Georgia"/>
              </a:rPr>
              <a:t>AUTO    </a:t>
            </a:r>
            <a:r>
              <a:rPr sz="2100" b="0">
                <a:solidFill>
                  <a:srgbClr val="1A1A1A"/>
                </a:solidFill>
                <a:latin typeface="Georgia"/>
              </a:rPr>
              <a:t>E17 → R1-ring → E19, via Antwerpen  (~75 km)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36976"/>
            <a:ext cx="164592" cy="254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90672"/>
            <a:ext cx="105064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Georgia"/>
              </a:rPr>
              <a:t>TREIN    </a:t>
            </a:r>
            <a:r>
              <a:rPr sz="2100" b="0">
                <a:solidFill>
                  <a:srgbClr val="1A1A1A"/>
                </a:solidFill>
                <a:latin typeface="Georgia"/>
              </a:rPr>
              <a:t>Gent-Sint-Pieters → Mechelen  (~58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288536"/>
            <a:ext cx="164592" cy="254000"/>
          </a:xfrm>
          <a:prstGeom prst="rect">
            <a:avLst/>
          </a:prstGeom>
          <a:solidFill>
            <a:srgbClr val="6E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142232"/>
            <a:ext cx="105064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747C"/>
                </a:solidFill>
                <a:latin typeface="Georgia"/>
              </a:rPr>
              <a:t>THUISWERKEN    </a:t>
            </a:r>
            <a:r>
              <a:rPr sz="2100" b="0">
                <a:solidFill>
                  <a:srgbClr val="1A1A1A"/>
                </a:solidFill>
                <a:latin typeface="Georgia"/>
              </a:rPr>
              <a:t>wanneer geen enkele modus betrouwbaar genoeg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669280"/>
            <a:ext cx="105064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747C"/>
                </a:solidFill>
                <a:latin typeface="Arial"/>
              </a:rPr>
              <a:t>Doel: 's avonds beslissen om de volgende ochtend om 09:00 in Mechelen te zijn.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DE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Zeven bronnen, één rij per werkdag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0574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1   </a:t>
            </a:r>
            <a:r>
              <a:rPr sz="1550" b="1">
                <a:solidFill>
                  <a:srgbClr val="1A1A1A"/>
                </a:solidFill>
                <a:latin typeface="Arial"/>
              </a:rPr>
              <a:t>Weer   </a:t>
            </a:r>
            <a:r>
              <a:rPr sz="1550" b="0">
                <a:solidFill>
                  <a:srgbClr val="6E747C"/>
                </a:solidFill>
                <a:latin typeface="Arial"/>
              </a:rPr>
              <a:t>Open-Meteo — uurlijks, 2021 → 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2   </a:t>
            </a:r>
            <a:r>
              <a:rPr sz="1550" b="1">
                <a:solidFill>
                  <a:srgbClr val="1A1A1A"/>
                </a:solidFill>
                <a:latin typeface="Arial"/>
              </a:rPr>
              <a:t>Kalender   </a:t>
            </a:r>
            <a:r>
              <a:rPr sz="1550" b="0">
                <a:solidFill>
                  <a:srgbClr val="6E747C"/>
                </a:solidFill>
                <a:latin typeface="Arial"/>
              </a:rPr>
              <a:t>holidays — feestdagen &amp; schoolvakanties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718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3   </a:t>
            </a:r>
            <a:r>
              <a:rPr sz="1550" b="1">
                <a:solidFill>
                  <a:srgbClr val="1A1A1A"/>
                </a:solidFill>
                <a:latin typeface="Arial"/>
              </a:rPr>
              <a:t>Trein (schema)   </a:t>
            </a:r>
            <a:r>
              <a:rPr sz="1550" b="0">
                <a:solidFill>
                  <a:srgbClr val="6E747C"/>
                </a:solidFill>
                <a:latin typeface="Arial"/>
              </a:rPr>
              <a:t>iRail — dienstregeling (fallback)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290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4   </a:t>
            </a:r>
            <a:r>
              <a:rPr sz="1550" b="1">
                <a:solidFill>
                  <a:srgbClr val="1A1A1A"/>
                </a:solidFill>
                <a:latin typeface="Arial"/>
              </a:rPr>
              <a:t>Trein (echt)   </a:t>
            </a:r>
            <a:r>
              <a:rPr sz="1550" b="0">
                <a:solidFill>
                  <a:srgbClr val="6E747C"/>
                </a:solidFill>
                <a:latin typeface="Arial"/>
              </a:rPr>
              <a:t>Infrabel — punctualiteit 2021–2026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8862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5   </a:t>
            </a:r>
            <a:r>
              <a:rPr sz="1550" b="1">
                <a:solidFill>
                  <a:srgbClr val="1A1A1A"/>
                </a:solidFill>
                <a:latin typeface="Arial"/>
              </a:rPr>
              <a:t>Auto (referentie)   </a:t>
            </a:r>
            <a:r>
              <a:rPr sz="1550" b="0">
                <a:solidFill>
                  <a:srgbClr val="6E747C"/>
                </a:solidFill>
                <a:latin typeface="Arial"/>
              </a:rPr>
              <a:t>OSRM — vrije doorstroomtijd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6   </a:t>
            </a:r>
            <a:r>
              <a:rPr sz="1550" b="1">
                <a:solidFill>
                  <a:srgbClr val="1A1A1A"/>
                </a:solidFill>
                <a:latin typeface="Arial"/>
              </a:rPr>
              <a:t>Auto (schatting)   </a:t>
            </a:r>
            <a:r>
              <a:rPr sz="1550" b="0">
                <a:solidFill>
                  <a:srgbClr val="6E747C"/>
                </a:solidFill>
                <a:latin typeface="Arial"/>
              </a:rPr>
              <a:t>Vlaams Verkeercentrum — maandgemiddelde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8006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E747C"/>
                </a:solidFill>
                <a:latin typeface="Arial"/>
              </a:rPr>
              <a:t>7   </a:t>
            </a:r>
            <a:r>
              <a:rPr sz="1550" b="1">
                <a:solidFill>
                  <a:srgbClr val="1F3A5F"/>
                </a:solidFill>
                <a:latin typeface="Arial"/>
              </a:rPr>
              <a:t>Auto (gemeten) — NIEUW   </a:t>
            </a:r>
            <a:r>
              <a:rPr sz="1550" b="0">
                <a:solidFill>
                  <a:srgbClr val="6E747C"/>
                </a:solidFill>
                <a:latin typeface="Arial"/>
              </a:rPr>
              <a:t>AWV-verkeerstellingen 2025 (Marc)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5303520"/>
            <a:ext cx="10506456" cy="12700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422392"/>
            <a:ext cx="105064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Arial"/>
              </a:rPr>
              <a:t>build_combined_df()</a:t>
            </a:r>
            <a:r>
              <a:rPr sz="1400" b="0">
                <a:solidFill>
                  <a:srgbClr val="6E747C"/>
                </a:solidFill>
                <a:latin typeface="Arial"/>
              </a:rPr>
              <a:t>  →  combined_workdays_features.csv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LES 1 — DE VALKUIL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Een R² van 0,99 was geen succes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65836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Ons eerste auto-doel was een fórmule van dezelfde gegevens: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F3A5F"/>
                </a:solidFill>
                <a:latin typeface="Arial"/>
              </a:rPr>
              <a:t>car_est_min  =  OSRM × weekdagfactor × weerfactor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Het model leerde dus gewoon zijn eigen formule terug. Het 'voorspelde' niets nieuws — dat heet target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103120"/>
            <a:ext cx="3657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0">
                <a:solidFill>
                  <a:srgbClr val="1A1A1A"/>
                </a:solidFill>
                <a:latin typeface="Georgia"/>
              </a:rPr>
              <a:t>R² 0,99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6E747C"/>
                </a:solidFill>
                <a:latin typeface="Georgia"/>
              </a:rPr>
              <a:t>MAE 0,1 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Arial"/>
              </a:rPr>
              <a:t>te mooi om waar te zijn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HET VERSCHIL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Synthetisch vs. gemeten — wat is het?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53328" y="2057400"/>
            <a:ext cx="16510" cy="3794760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48463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SYNTHETISCH — onze formule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1F3A5F"/>
                </a:solidFill>
                <a:latin typeface="Arial"/>
              </a:rPr>
              <a:t>car_est_min · car_vc_est_min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= OSRM-basis × weekdagfactor × weerfactor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Geen meting — een regel die we zélf schreven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Beweegt enkel met weekdag &amp; weer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Gemiddeld ~44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103120"/>
            <a:ext cx="48463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3A5F"/>
                </a:solidFill>
                <a:latin typeface="Arial"/>
              </a:rPr>
              <a:t>GEMETEN — Marc, 2025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1F3A5F"/>
                </a:solidFill>
                <a:latin typeface="Arial"/>
              </a:rPr>
              <a:t>car_real_min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F3A5F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AWV-lussen tellen échte auto's → volume → reistijd (BPR-model)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F3A5F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Een echte dagmeting, per werkdag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F3A5F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Beweegt met het werkelijke verkeer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F3A5F"/>
                </a:solidFill>
                <a:latin typeface="Arial"/>
              </a:rPr>
              <a:t>›  </a:t>
            </a:r>
            <a:r>
              <a:rPr sz="1400" b="0">
                <a:solidFill>
                  <a:srgbClr val="1A1A1A"/>
                </a:solidFill>
                <a:latin typeface="Arial"/>
              </a:rPr>
              <a:t>Gemiddeld ~96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035040"/>
            <a:ext cx="10506456" cy="12700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144768"/>
            <a:ext cx="105064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Het verschil:  </a:t>
            </a:r>
            <a:r>
              <a:rPr sz="1300" b="0">
                <a:solidFill>
                  <a:srgbClr val="6E747C"/>
                </a:solidFill>
                <a:latin typeface="Arial"/>
              </a:rPr>
              <a:t>correlatie r ≈ 0,01 (andere dagpatronen)  ·  ~2× hoger niveau  ·  de formule veroorzaakte de R²-leakage, de meting niet.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LES 2 — ECHTE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Gemeten verkeer vs. onze formule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Formule ~44 min   vs   gemeten ~96 min</a:t>
            </a:r>
            <a:r>
              <a:rPr sz="1600" b="0">
                <a:solidFill>
                  <a:srgbClr val="6E747C"/>
                </a:solidFill>
                <a:latin typeface="Arial"/>
              </a:rPr>
              <a:t>   ·   correlatie r ≈ 0,01 — twee verschillende werelden.</a:t>
            </a:r>
          </a:p>
        </p:txBody>
      </p:sp>
      <p:pic>
        <p:nvPicPr>
          <p:cNvPr id="6" name="Picture 5" descr="plot_v2_synth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95" y="2542032"/>
            <a:ext cx="1041716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HET GEVOLG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De auto wint niet — de trein wel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Formule: auto bijna élke dag.   </a:t>
            </a:r>
            <a:r>
              <a:rPr sz="1600" b="1">
                <a:solidFill>
                  <a:srgbClr val="2E7D32"/>
                </a:solidFill>
                <a:latin typeface="Arial"/>
              </a:rPr>
              <a:t>Gemeten: de trein wint op ~91% van de werkdagen.</a:t>
            </a:r>
          </a:p>
        </p:txBody>
      </p:sp>
      <p:pic>
        <p:nvPicPr>
          <p:cNvPr id="6" name="Picture 5" descr="plot_v2_advice_rederi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654" y="2542032"/>
            <a:ext cx="6295644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LES 3 — EERLIJK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Met echte data: eerlijk maar bescheiden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Echt doel → R² ≈ 0 · gemiddelde fout ~9 min op een rit van ~94 min. </a:t>
            </a:r>
            <a:r>
              <a:rPr sz="1600" b="0">
                <a:solidFill>
                  <a:srgbClr val="6E747C"/>
                </a:solidFill>
                <a:latin typeface="Arial"/>
              </a:rPr>
              <a:t>Weer + kalender voorspellen de dagvariatie nauwelijks.</a:t>
            </a:r>
          </a:p>
        </p:txBody>
      </p:sp>
      <p:pic>
        <p:nvPicPr>
          <p:cNvPr id="6" name="Picture 5" descr="plot_v2_hon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902911"/>
            <a:ext cx="10506456" cy="29815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WAT TELT ÉCHT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Kalender vóór weer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Feestdag 60 · brugdag 81 · schoolvakantie 90 · gewone dag 96 min. </a:t>
            </a:r>
            <a:r>
              <a:rPr sz="1600" b="0">
                <a:solidFill>
                  <a:srgbClr val="6E747C"/>
                </a:solidFill>
                <a:latin typeface="Arial"/>
              </a:rPr>
              <a:t>'is_public_holiday' is de #1 feature; weer is zwak.</a:t>
            </a:r>
          </a:p>
        </p:txBody>
      </p:sp>
      <p:pic>
        <p:nvPicPr>
          <p:cNvPr id="6" name="Picture 5" descr="plot_v2_holiday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113" y="2542032"/>
            <a:ext cx="10500726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BETROUWBAARHEID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Hoeveel buffer is realistisch?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10 min ≈ 90% op tijd voor de auto. </a:t>
            </a:r>
            <a:r>
              <a:rPr sz="1600" b="0">
                <a:solidFill>
                  <a:srgbClr val="6E747C"/>
                </a:solidFill>
                <a:latin typeface="Arial"/>
              </a:rPr>
              <a:t>Per modus: auto 14 min, trein 6 min voor ~95%.</a:t>
            </a:r>
          </a:p>
        </p:txBody>
      </p:sp>
      <p:pic>
        <p:nvPicPr>
          <p:cNvPr id="6" name="Picture 5" descr="plot_v2_bu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77511"/>
            <a:ext cx="10506456" cy="3432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EERLIJKHEID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Hoe onze cijfers 'verbeterden'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De R² daalde naarmate we eerlijker werden. </a:t>
            </a:r>
            <a:r>
              <a:rPr sz="1600" b="0">
                <a:solidFill>
                  <a:srgbClr val="6E747C"/>
                </a:solidFill>
                <a:latin typeface="Arial"/>
              </a:rPr>
              <a:t>Lagere R² = minder zelfbedrog, niet een slechter model.</a:t>
            </a:r>
          </a:p>
        </p:txBody>
      </p:sp>
      <p:pic>
        <p:nvPicPr>
          <p:cNvPr id="6" name="Picture 5" descr="plot_v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543434"/>
            <a:ext cx="10506456" cy="37005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50 SCENARIO'S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Het model getest op 50 situaties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47088"/>
            <a:ext cx="105064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Elke weekdag × weertype — van ideale vrijdag tot sneeuwstorm. Aanbeveling per dag: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0604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>
                <a:solidFill>
                  <a:srgbClr val="2E7D32"/>
                </a:solidFill>
                <a:latin typeface="Georgia"/>
              </a:rPr>
              <a:t>40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6E747C"/>
                </a:solidFill>
                <a:latin typeface="Arial"/>
              </a:rPr>
              <a:t>× trein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808" y="260604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>
                <a:solidFill>
                  <a:srgbClr val="C0392B"/>
                </a:solidFill>
                <a:latin typeface="Georgia"/>
              </a:rPr>
              <a:t>2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6E747C"/>
                </a:solidFill>
                <a:latin typeface="Arial"/>
              </a:rPr>
              <a:t>× auto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6368" y="260604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>
                <a:solidFill>
                  <a:srgbClr val="FB8C00"/>
                </a:solidFill>
                <a:latin typeface="Georgia"/>
              </a:rPr>
              <a:t>8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6E747C"/>
                </a:solidFill>
                <a:latin typeface="Arial"/>
              </a:rPr>
              <a:t>× thuiswerken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572000"/>
            <a:ext cx="164592" cy="1905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6227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E7D32"/>
                </a:solidFill>
                <a:latin typeface="Arial"/>
              </a:rPr>
              <a:t>Trein — de standaard  —  </a:t>
            </a:r>
            <a:r>
              <a:rPr sz="1450" b="0">
                <a:solidFill>
                  <a:srgbClr val="6E747C"/>
                </a:solidFill>
                <a:latin typeface="Arial"/>
              </a:rPr>
              <a:t>o.a. ideale vrijdag, typische dinsdag, zomervakantie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5120640"/>
            <a:ext cx="164592" cy="190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1091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C0392B"/>
                </a:solidFill>
                <a:latin typeface="Arial"/>
              </a:rPr>
              <a:t>Auto — enkel rustige vrijdagen  —  </a:t>
            </a:r>
            <a:r>
              <a:rPr sz="1450" b="0">
                <a:solidFill>
                  <a:srgbClr val="6E747C"/>
                </a:solidFill>
                <a:latin typeface="Arial"/>
              </a:rPr>
              <a:t>vrijdag + (mot)regen: lichtste spits, auto nét competitief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669279"/>
            <a:ext cx="164592" cy="190500"/>
          </a:xfrm>
          <a:prstGeom prst="rect">
            <a:avLst/>
          </a:prstGeom>
          <a:solidFill>
            <a:srgbClr val="F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59551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B8C00"/>
                </a:solidFill>
                <a:latin typeface="Arial"/>
              </a:rPr>
              <a:t>Thuiswerken — zwaar weer  —  </a:t>
            </a:r>
            <a:r>
              <a:rPr sz="1450" b="0">
                <a:solidFill>
                  <a:srgbClr val="6E747C"/>
                </a:solidFill>
                <a:latin typeface="Arial"/>
              </a:rPr>
              <a:t>sneeuw(storm), winterstorm, orkaan  ·  + feestdagen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50 SCENARIO'S — RESULTATEN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Een greep uit de 50 gevallen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747C"/>
                </a:solidFill>
                <a:latin typeface="Arial"/>
              </a:rPr>
              <a:t>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99339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747C"/>
                </a:solidFill>
                <a:latin typeface="Arial"/>
              </a:rPr>
              <a:t>AUTO-TIJD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747C"/>
                </a:solidFill>
                <a:latin typeface="Arial"/>
              </a:rPr>
              <a:t>RISICO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9933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747C"/>
                </a:solidFill>
                <a:latin typeface="Arial"/>
              </a:rPr>
              <a:t>ADVIES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286000"/>
            <a:ext cx="10506456" cy="152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6888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Ideale vrijdag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468880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85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4688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468880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Arial"/>
              </a:rPr>
              <a:t>trein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2743200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78434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Typische dinsdag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784348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100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78434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8434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Arial"/>
              </a:rPr>
              <a:t>trein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058668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099815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Maandag + zware regen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099815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93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099815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099815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Arial"/>
              </a:rPr>
              <a:t>trein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3374135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415283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Zomervakantie — rustig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415283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95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41528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415283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Arial"/>
              </a:rPr>
              <a:t>trein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3689603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3730751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Hittegolf vrijdag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730751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85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730751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730751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Arial"/>
              </a:rPr>
              <a:t>trein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005071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404621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Koude regenachtige maandag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4046219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94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046219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4046219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32"/>
                </a:solidFill>
                <a:latin typeface="Arial"/>
              </a:rPr>
              <a:t>trein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320539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4361687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Vrijdag + motregen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361687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92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4361687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361687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392B"/>
                </a:solidFill>
                <a:latin typeface="Arial"/>
              </a:rPr>
              <a:t>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" y="4636007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4677155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Koude regenachtige vrijdag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4677155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91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4677155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4677155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392B"/>
                </a:solidFill>
                <a:latin typeface="Arial"/>
              </a:rPr>
              <a:t>auto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" y="4951475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" y="4992623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Sneeuwdag januari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992623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87 min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99262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4992623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B8C00"/>
                </a:solidFill>
                <a:latin typeface="Arial"/>
              </a:rPr>
              <a:t>thuiswerken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" y="5266943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308091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Sneeuwstorm (code rood)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5308091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88 min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5308091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5308091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B8C00"/>
                </a:solidFill>
                <a:latin typeface="Arial"/>
              </a:rPr>
              <a:t>thuiswerken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" y="5582411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" y="562355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Winterstorm dinsdag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0" y="5623559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92 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5623559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0" y="5623559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B8C00"/>
                </a:solidFill>
                <a:latin typeface="Arial"/>
              </a:rPr>
              <a:t>thuiswerken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" y="5897879"/>
            <a:ext cx="10506456" cy="9525"/>
          </a:xfrm>
          <a:prstGeom prst="rect">
            <a:avLst/>
          </a:prstGeom>
          <a:solidFill>
            <a:srgbClr val="DE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" y="5993891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47C"/>
                </a:solidFill>
                <a:latin typeface="Arial"/>
              </a:rPr>
              <a:t>Volledige set van 50: scenario_predictions_2025_real.png / .csv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06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Arial"/>
              </a:rPr>
              <a:t>CONCLUSIE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41248"/>
            <a:ext cx="1050645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A1A1A"/>
                </a:solidFill>
                <a:latin typeface="Georgia"/>
              </a:rPr>
              <a:t>Wat we écht weten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1371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2057400"/>
            <a:ext cx="164592" cy="20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56816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Georgia"/>
              </a:rPr>
              <a:t>Neem de trein op ~9 van de 10 werkdagen.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E747C"/>
                </a:solidFill>
                <a:latin typeface="Arial"/>
              </a:rPr>
              <a:t>De auto wint enkel op rustige dagen (vakantie / feestdag).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81528"/>
            <a:ext cx="164592" cy="20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80944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Georgia"/>
              </a:rPr>
              <a:t>Het model is kalender-eerst, weer-licht.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E747C"/>
                </a:solidFill>
                <a:latin typeface="Arial"/>
              </a:rPr>
              <a:t>Het is een planningshulp, geen exacte minuut-voorspeller.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105656"/>
            <a:ext cx="164592" cy="20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005072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Georgia"/>
              </a:rPr>
              <a:t>Eerlijkheid boven een hoge R².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E747C"/>
                </a:solidFill>
                <a:latin typeface="Arial"/>
              </a:rPr>
              <a:t>De 0,99 was leakage; ~9 min fout is de waarheid.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5129784"/>
            <a:ext cx="164592" cy="20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292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Georgia"/>
              </a:rPr>
              <a:t>Beperkingen.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E747C"/>
                </a:solidFill>
                <a:latin typeface="Arial"/>
              </a:rPr>
              <a:t>1 jaar echte auto-data · gemeten reistijd is zelf een model (60–120 min geklemd) · dagniveau blijft deels onvoorspelbaar.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Gent → Mechelen · slimmer pendelen met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747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468880"/>
            <a:ext cx="219456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69748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0">
                <a:solidFill>
                  <a:srgbClr val="1A1A1A"/>
                </a:solidFill>
                <a:latin typeface="Georgia"/>
              </a:rPr>
              <a:t>Bedankt — vragen?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E747C"/>
                </a:solidFill>
                <a:latin typeface="Arial"/>
              </a:rPr>
              <a:t>Volledige analyse: </a:t>
            </a:r>
            <a:r>
              <a:rPr sz="1500" b="1">
                <a:solidFill>
                  <a:srgbClr val="1F3A5F"/>
                </a:solidFill>
                <a:latin typeface="Arial"/>
              </a:rPr>
              <a:t>01_data_exploration_combined_v2.ipynb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747C"/>
                </a:solidFill>
                <a:latin typeface="Arial"/>
              </a:rPr>
              <a:t>Laure · Jack · Maxime · Marc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