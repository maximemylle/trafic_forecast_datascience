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2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3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2148840"/>
            <a:ext cx="219456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3A5F"/>
                </a:solidFill>
                <a:latin typeface="Arial"/>
              </a:rPr>
              <a:t>GENT  →  MECHELEN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A1A1A"/>
                </a:solidFill>
                <a:latin typeface="Georgia"/>
              </a:rPr>
              <a:t>Slimmer pendelen — wat de data écht zegt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0690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E747C"/>
                </a:solidFill>
                <a:latin typeface="Arial"/>
              </a:rPr>
              <a:t>Auto, trein of thuiswerken? Een eerlijk verhaal over een machine-learning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8064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Laure · Jack · Maxime · Marc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E747C"/>
                </a:solidFill>
                <a:latin typeface="Arial"/>
              </a:rPr>
              <a:t>Syntra Mechelen — 23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DE VRAAG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Elke ochtend één keuze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" y="2185416"/>
            <a:ext cx="164592" cy="254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039112"/>
            <a:ext cx="105064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0392B"/>
                </a:solidFill>
                <a:latin typeface="Georgia"/>
              </a:rPr>
              <a:t>AUTO    </a:t>
            </a:r>
            <a:r>
              <a:rPr sz="2100" b="0">
                <a:solidFill>
                  <a:srgbClr val="1A1A1A"/>
                </a:solidFill>
                <a:latin typeface="Georgia"/>
              </a:rPr>
              <a:t>E17 → R1-ring → E19, via Antwerpen  (~75 km)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36976"/>
            <a:ext cx="164592" cy="254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090672"/>
            <a:ext cx="105064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E7D32"/>
                </a:solidFill>
                <a:latin typeface="Georgia"/>
              </a:rPr>
              <a:t>TREIN    </a:t>
            </a:r>
            <a:r>
              <a:rPr sz="2100" b="0">
                <a:solidFill>
                  <a:srgbClr val="1A1A1A"/>
                </a:solidFill>
                <a:latin typeface="Georgia"/>
              </a:rPr>
              <a:t>Gent-Sint-Pieters → Mechelen  (~58 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88536"/>
            <a:ext cx="164592" cy="254000"/>
          </a:xfrm>
          <a:prstGeom prst="rect">
            <a:avLst/>
          </a:prstGeom>
          <a:solidFill>
            <a:srgbClr val="6E7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142232"/>
            <a:ext cx="105064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E747C"/>
                </a:solidFill>
                <a:latin typeface="Georgia"/>
              </a:rPr>
              <a:t>THUISWERKEN    </a:t>
            </a:r>
            <a:r>
              <a:rPr sz="2100" b="0">
                <a:solidFill>
                  <a:srgbClr val="1A1A1A"/>
                </a:solidFill>
                <a:latin typeface="Georgia"/>
              </a:rPr>
              <a:t>wanneer geen enkele modus betrouwbaar genoeg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669280"/>
            <a:ext cx="105064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Arial"/>
              </a:rPr>
              <a:t>Doel: 's avonds beslissen om de volgende ochtend om 09:00 in Mechelen te zijn.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DE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Zeven bronnen, één rij per werkdag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0574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E747C"/>
                </a:solidFill>
                <a:latin typeface="Arial"/>
              </a:rPr>
              <a:t>1   </a:t>
            </a:r>
            <a:r>
              <a:rPr sz="1550" b="1">
                <a:solidFill>
                  <a:srgbClr val="1A1A1A"/>
                </a:solidFill>
                <a:latin typeface="Arial"/>
              </a:rPr>
              <a:t>Weer   </a:t>
            </a:r>
            <a:r>
              <a:rPr sz="1550" b="0">
                <a:solidFill>
                  <a:srgbClr val="6E747C"/>
                </a:solidFill>
                <a:latin typeface="Arial"/>
              </a:rPr>
              <a:t>Open-Meteo — uurlijks, 2021 → 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E747C"/>
                </a:solidFill>
                <a:latin typeface="Arial"/>
              </a:rPr>
              <a:t>2   </a:t>
            </a:r>
            <a:r>
              <a:rPr sz="1550" b="1">
                <a:solidFill>
                  <a:srgbClr val="1A1A1A"/>
                </a:solidFill>
                <a:latin typeface="Arial"/>
              </a:rPr>
              <a:t>Kalender   </a:t>
            </a:r>
            <a:r>
              <a:rPr sz="1550" b="0">
                <a:solidFill>
                  <a:srgbClr val="6E747C"/>
                </a:solidFill>
                <a:latin typeface="Arial"/>
              </a:rPr>
              <a:t>holidays — feestdagen &amp; schoolvakanties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718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E747C"/>
                </a:solidFill>
                <a:latin typeface="Arial"/>
              </a:rPr>
              <a:t>3   </a:t>
            </a:r>
            <a:r>
              <a:rPr sz="1550" b="1">
                <a:solidFill>
                  <a:srgbClr val="1A1A1A"/>
                </a:solidFill>
                <a:latin typeface="Arial"/>
              </a:rPr>
              <a:t>Trein (schema)   </a:t>
            </a:r>
            <a:r>
              <a:rPr sz="1550" b="0">
                <a:solidFill>
                  <a:srgbClr val="6E747C"/>
                </a:solidFill>
                <a:latin typeface="Arial"/>
              </a:rPr>
              <a:t>iRail — dienstregeling (fallback)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29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E747C"/>
                </a:solidFill>
                <a:latin typeface="Arial"/>
              </a:rPr>
              <a:t>4   </a:t>
            </a:r>
            <a:r>
              <a:rPr sz="1550" b="1">
                <a:solidFill>
                  <a:srgbClr val="1A1A1A"/>
                </a:solidFill>
                <a:latin typeface="Arial"/>
              </a:rPr>
              <a:t>Trein (echt)   </a:t>
            </a:r>
            <a:r>
              <a:rPr sz="1550" b="0">
                <a:solidFill>
                  <a:srgbClr val="6E747C"/>
                </a:solidFill>
                <a:latin typeface="Arial"/>
              </a:rPr>
              <a:t>Infrabel — punctualiteit 2021–2026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8862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E747C"/>
                </a:solidFill>
                <a:latin typeface="Arial"/>
              </a:rPr>
              <a:t>5   </a:t>
            </a:r>
            <a:r>
              <a:rPr sz="1550" b="1">
                <a:solidFill>
                  <a:srgbClr val="1A1A1A"/>
                </a:solidFill>
                <a:latin typeface="Arial"/>
              </a:rPr>
              <a:t>Auto (referentie)   </a:t>
            </a:r>
            <a:r>
              <a:rPr sz="1550" b="0">
                <a:solidFill>
                  <a:srgbClr val="6E747C"/>
                </a:solidFill>
                <a:latin typeface="Arial"/>
              </a:rPr>
              <a:t>OSRM — vrije doorstroomtijd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E747C"/>
                </a:solidFill>
                <a:latin typeface="Arial"/>
              </a:rPr>
              <a:t>6   </a:t>
            </a:r>
            <a:r>
              <a:rPr sz="1550" b="1">
                <a:solidFill>
                  <a:srgbClr val="1A1A1A"/>
                </a:solidFill>
                <a:latin typeface="Arial"/>
              </a:rPr>
              <a:t>Auto (schatting)   </a:t>
            </a:r>
            <a:r>
              <a:rPr sz="1550" b="0">
                <a:solidFill>
                  <a:srgbClr val="6E747C"/>
                </a:solidFill>
                <a:latin typeface="Arial"/>
              </a:rPr>
              <a:t>Vlaams Verkeercentrum — maandgemiddelde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8006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dirty="0">
                <a:solidFill>
                  <a:srgbClr val="6E747C"/>
                </a:solidFill>
                <a:latin typeface="Arial"/>
              </a:rPr>
              <a:t>7   </a:t>
            </a:r>
            <a:r>
              <a:rPr sz="1550" b="1" dirty="0">
                <a:solidFill>
                  <a:srgbClr val="1F3A5F"/>
                </a:solidFill>
                <a:latin typeface="Arial"/>
              </a:rPr>
              <a:t>Auto (</a:t>
            </a:r>
            <a:r>
              <a:rPr sz="1550" b="1" dirty="0" err="1">
                <a:solidFill>
                  <a:srgbClr val="1F3A5F"/>
                </a:solidFill>
                <a:latin typeface="Arial"/>
              </a:rPr>
              <a:t>gemeten</a:t>
            </a:r>
            <a:r>
              <a:rPr sz="1550" b="1" dirty="0">
                <a:solidFill>
                  <a:srgbClr val="1F3A5F"/>
                </a:solidFill>
                <a:latin typeface="Arial"/>
              </a:rPr>
              <a:t>) — NIEUW   </a:t>
            </a:r>
            <a:r>
              <a:rPr sz="1550" b="0" dirty="0">
                <a:solidFill>
                  <a:srgbClr val="6E747C"/>
                </a:solidFill>
                <a:latin typeface="Arial"/>
              </a:rPr>
              <a:t>AWV-</a:t>
            </a:r>
            <a:r>
              <a:rPr sz="1550" b="0" dirty="0" err="1">
                <a:solidFill>
                  <a:srgbClr val="6E747C"/>
                </a:solidFill>
                <a:latin typeface="Arial"/>
              </a:rPr>
              <a:t>verkeerstellingen</a:t>
            </a:r>
            <a:r>
              <a:rPr sz="1550" b="0" dirty="0">
                <a:solidFill>
                  <a:srgbClr val="6E747C"/>
                </a:solidFill>
                <a:latin typeface="Arial"/>
              </a:rPr>
              <a:t> 2025 (Marc)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5303520"/>
            <a:ext cx="10506456" cy="12700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5422392"/>
            <a:ext cx="10506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Arial"/>
              </a:rPr>
              <a:t>build_combined_df()</a:t>
            </a:r>
            <a:r>
              <a:rPr sz="1400" b="0">
                <a:solidFill>
                  <a:srgbClr val="6E747C"/>
                </a:solidFill>
                <a:latin typeface="Arial"/>
              </a:rPr>
              <a:t>  →  combined_workdays_features.csv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DATABRON · WEER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Weerdata — Open-Meteo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4343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>
                <a:solidFill>
                  <a:srgbClr val="1A1A1A"/>
                </a:solidFill>
                <a:latin typeface="Arial"/>
              </a:rPr>
              <a:t>Gratis API · uurlijks · terug tot 1940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>
                <a:solidFill>
                  <a:srgbClr val="1A1A1A"/>
                </a:solidFill>
                <a:latin typeface="Arial"/>
              </a:rPr>
              <a:t>Locatie Mechelen · venster 06:00–09:00 (pendeltijd)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>
                <a:solidFill>
                  <a:srgbClr val="1A1A1A"/>
                </a:solidFill>
                <a:latin typeface="Arial"/>
              </a:rPr>
              <a:t>Variabelen: regen, wind, temperatuur, sneeuw, vocht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>
                <a:solidFill>
                  <a:srgbClr val="1A1A1A"/>
                </a:solidFill>
                <a:latin typeface="Arial"/>
              </a:rPr>
              <a:t>Inzicht: natst in herfst &amp; winter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>
                <a:solidFill>
                  <a:srgbClr val="1A1A1A"/>
                </a:solidFill>
                <a:latin typeface="Arial"/>
              </a:rPr>
              <a:t>Inzicht: weer is gelijk over álle weekdagen → files zijn menselijk gedrag</a:t>
            </a:r>
          </a:p>
        </p:txBody>
      </p:sp>
      <p:pic>
        <p:nvPicPr>
          <p:cNvPr id="6" name="Picture 5" descr="plot_weath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073288"/>
            <a:ext cx="5989320" cy="39458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DATABRON · KALENDER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Belgische werkdagen — holidays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4343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2021–2028 (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ook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toekomst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voor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forecasts)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is_workday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: ma–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vr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én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geen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feestdag</a:t>
            </a:r>
            <a:endParaRPr sz="145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Schoolvakanties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&amp;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brugdagen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apart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gemarkeerd</a:t>
            </a:r>
            <a:endParaRPr sz="145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Seizoen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(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meteorologisch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Inzicht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: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mei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heeft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de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meeste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feestdagen</a:t>
            </a:r>
            <a:endParaRPr sz="1450" b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5</a:t>
            </a:r>
          </a:p>
        </p:txBody>
      </p:sp>
      <p:pic>
        <p:nvPicPr>
          <p:cNvPr id="9" name="Afbeelding 12">
            <a:extLst>
              <a:ext uri="{FF2B5EF4-FFF2-40B4-BE49-F238E27FC236}">
                <a16:creationId xmlns:a16="http://schemas.microsoft.com/office/drawing/2014/main" id="{8A62ECAA-D469-6456-C5E8-7577224DC24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44568" y="3144456"/>
            <a:ext cx="7045776" cy="2973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DATABRON · TREIN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Echte vs. geplande treindata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4343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dirty="0">
                <a:solidFill>
                  <a:srgbClr val="1A1A1A"/>
                </a:solidFill>
                <a:latin typeface="Arial"/>
              </a:rPr>
              <a:t>Infrabel — </a:t>
            </a:r>
            <a:r>
              <a:rPr sz="1500" b="1" dirty="0" err="1">
                <a:solidFill>
                  <a:srgbClr val="1A1A1A"/>
                </a:solidFill>
                <a:latin typeface="Arial"/>
              </a:rPr>
              <a:t>echt</a:t>
            </a:r>
            <a:endParaRPr sz="1500" b="1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6E747C"/>
                </a:solidFill>
                <a:latin typeface="Arial"/>
              </a:rPr>
              <a:t>werkelijke</a:t>
            </a:r>
            <a:r>
              <a:rPr sz="1350" b="0" dirty="0">
                <a:solidFill>
                  <a:srgbClr val="6E747C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6E747C"/>
                </a:solidFill>
                <a:latin typeface="Arial"/>
              </a:rPr>
              <a:t>aankomst</a:t>
            </a:r>
            <a:r>
              <a:rPr sz="1350" b="0" dirty="0">
                <a:solidFill>
                  <a:srgbClr val="6E747C"/>
                </a:solidFill>
                <a:latin typeface="Arial"/>
              </a:rPr>
              <a:t>/</a:t>
            </a:r>
            <a:r>
              <a:rPr sz="1350" b="0" dirty="0" err="1">
                <a:solidFill>
                  <a:srgbClr val="6E747C"/>
                </a:solidFill>
                <a:latin typeface="Arial"/>
              </a:rPr>
              <a:t>vertrek</a:t>
            </a:r>
            <a:r>
              <a:rPr sz="1350" b="0" dirty="0">
                <a:solidFill>
                  <a:srgbClr val="6E747C"/>
                </a:solidFill>
                <a:latin typeface="Arial"/>
              </a:rPr>
              <a:t> per </a:t>
            </a:r>
            <a:r>
              <a:rPr sz="1350" b="0" dirty="0" err="1">
                <a:solidFill>
                  <a:srgbClr val="6E747C"/>
                </a:solidFill>
                <a:latin typeface="Arial"/>
              </a:rPr>
              <a:t>trein</a:t>
            </a:r>
            <a:r>
              <a:rPr sz="1350" b="0" dirty="0">
                <a:solidFill>
                  <a:srgbClr val="6E747C"/>
                </a:solidFill>
                <a:latin typeface="Arial"/>
              </a:rPr>
              <a:t>, per </a:t>
            </a:r>
            <a:r>
              <a:rPr sz="1350" b="0" dirty="0" err="1">
                <a:solidFill>
                  <a:srgbClr val="6E747C"/>
                </a:solidFill>
                <a:latin typeface="Arial"/>
              </a:rPr>
              <a:t>dag</a:t>
            </a:r>
            <a:r>
              <a:rPr sz="1350" b="0" dirty="0">
                <a:solidFill>
                  <a:srgbClr val="6E747C"/>
                </a:solidFill>
                <a:latin typeface="Arial"/>
              </a:rPr>
              <a:t> (2021–2026)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dirty="0" err="1">
                <a:solidFill>
                  <a:srgbClr val="1A1A1A"/>
                </a:solidFill>
                <a:latin typeface="Arial"/>
              </a:rPr>
              <a:t>iRail</a:t>
            </a:r>
            <a:r>
              <a:rPr sz="1500" b="1" dirty="0">
                <a:solidFill>
                  <a:srgbClr val="1A1A1A"/>
                </a:solidFill>
                <a:latin typeface="Arial"/>
              </a:rPr>
              <a:t> — schema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6E747C"/>
                </a:solidFill>
                <a:latin typeface="Arial"/>
              </a:rPr>
              <a:t>dienstregeling</a:t>
            </a:r>
            <a:r>
              <a:rPr sz="1350" b="0" dirty="0">
                <a:solidFill>
                  <a:srgbClr val="6E747C"/>
                </a:solidFill>
                <a:latin typeface="Arial"/>
              </a:rPr>
              <a:t>, </a:t>
            </a:r>
            <a:r>
              <a:rPr sz="1350" b="0" dirty="0" err="1">
                <a:solidFill>
                  <a:srgbClr val="6E747C"/>
                </a:solidFill>
                <a:latin typeface="Arial"/>
              </a:rPr>
              <a:t>enkel</a:t>
            </a:r>
            <a:r>
              <a:rPr sz="1350" b="0" dirty="0">
                <a:solidFill>
                  <a:srgbClr val="6E747C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6E747C"/>
                </a:solidFill>
                <a:latin typeface="Arial"/>
              </a:rPr>
              <a:t>als</a:t>
            </a:r>
            <a:r>
              <a:rPr sz="1350" b="0" dirty="0">
                <a:solidFill>
                  <a:srgbClr val="6E747C"/>
                </a:solidFill>
                <a:latin typeface="Arial"/>
              </a:rPr>
              <a:t> fallback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Waarom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Infrabel?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iRail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heeft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géén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meerjarige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vertraginghistorie</a:t>
            </a:r>
            <a:endParaRPr sz="145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Per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dag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: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reistijd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vertraging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, % op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tijd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, %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geannuleerd</a:t>
            </a:r>
            <a:endParaRPr sz="1450" b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79FBB9-472F-164E-2C97-DB3807A6B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214" y="1495155"/>
            <a:ext cx="5687219" cy="3867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DATABRON ·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Van verkeersvolume naar reistijd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4343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AWV-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lussen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tellen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auto's per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kwartier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(spits 07:00–08:30)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Meer auto's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nabij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de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flessenhals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(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Kennedytunnel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) →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langere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reistijd</a:t>
            </a:r>
            <a:endParaRPr sz="145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BPR-model: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reistijd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stijgt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niet-lineair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met het volume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Geklemd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op 60–120 min (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modelbenadering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geen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GPS-meting)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OSRM =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vrije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doorstroom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(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referentie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) · VC = 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maandgemiddelde</a:t>
            </a:r>
            <a:endParaRPr sz="1450" b="0" dirty="0">
              <a:solidFill>
                <a:srgbClr val="1A1A1A"/>
              </a:solidFill>
              <a:latin typeface="Arial"/>
            </a:endParaRPr>
          </a:p>
        </p:txBody>
      </p:sp>
      <p:pic>
        <p:nvPicPr>
          <p:cNvPr id="6" name="Picture 5" descr="plot_v2_volume_to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401229"/>
            <a:ext cx="5989320" cy="3289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AANPAK · DE MODELLEN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Drie modellen — in volgorde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167127"/>
            <a:ext cx="777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F3A5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31720"/>
            <a:ext cx="95097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A1A1A"/>
                </a:solidFill>
                <a:latin typeface="Georgia"/>
              </a:rPr>
              <a:t>Lineaire Regressie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E747C"/>
                </a:solidFill>
                <a:latin typeface="Arial"/>
              </a:rPr>
              <a:t>de ijklijn — een eenvoudig vertrekpunt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10127"/>
            <a:ext cx="777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F3A5F"/>
                </a:solidFill>
                <a:latin typeface="Georg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474720"/>
            <a:ext cx="95097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A1A1A"/>
                </a:solidFill>
                <a:latin typeface="Georgia"/>
              </a:rPr>
              <a:t>Random Forest Regressor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E747C"/>
                </a:solidFill>
                <a:latin typeface="Arial"/>
              </a:rPr>
              <a:t>het hoofdmodel — schat de reistijd (minuten)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453128"/>
            <a:ext cx="777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F3A5F"/>
                </a:solidFill>
                <a:latin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617720"/>
            <a:ext cx="95097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A1A1A"/>
                </a:solidFill>
                <a:latin typeface="Georgia"/>
              </a:rPr>
              <a:t>Random Forest Classifier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E747C"/>
                </a:solidFill>
                <a:latin typeface="Arial"/>
              </a:rPr>
              <a:t>de beslissing — auto of trein?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989320"/>
            <a:ext cx="10506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3A5F"/>
                </a:solidFill>
                <a:latin typeface="Arial"/>
              </a:rPr>
              <a:t>Van eenvoudig ijkpunt → slim model → concreet advies.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AANPAK · MODEL 1 VAN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Model 1 — Lineaire Regressie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06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A5F"/>
                </a:solidFill>
                <a:latin typeface="Georgia"/>
              </a:rPr>
              <a:t>De ijklijn (baseline)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42032"/>
            <a:ext cx="104241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>
                <a:solidFill>
                  <a:srgbClr val="1A1A1A"/>
                </a:solidFill>
                <a:latin typeface="Arial"/>
              </a:rPr>
              <a:t>Trekt één rechte lijn door de data — elke factor krijgt één vast gewicht.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>
                <a:solidFill>
                  <a:srgbClr val="1A1A1A"/>
                </a:solidFill>
                <a:latin typeface="Arial"/>
              </a:rPr>
              <a:t>'Meer regen → iets meer reistijd', en zo voor elke factor.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>
                <a:solidFill>
                  <a:srgbClr val="1A1A1A"/>
                </a:solidFill>
                <a:latin typeface="Arial"/>
              </a:rPr>
              <a:t>Waarom eerst? Als ijkpunt: een slimmer model moet dit kunnen verslaan.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>
                <a:solidFill>
                  <a:srgbClr val="1A1A1A"/>
                </a:solidFill>
                <a:latin typeface="Arial"/>
              </a:rPr>
              <a:t>Bonus: je ziet meteen welke factor de reistijd omhoog of omlaag duwt.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779008"/>
            <a:ext cx="10506456" cy="12700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10506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Simpel beeld:  </a:t>
            </a:r>
            <a:r>
              <a:rPr sz="1450" b="0">
                <a:solidFill>
                  <a:srgbClr val="6E747C"/>
                </a:solidFill>
                <a:latin typeface="Arial"/>
              </a:rPr>
              <a:t>zoals een rechte trendlijn in Excel.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AANPAK · MODEL 2 VAN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Model 2 — Random Forest Regressor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06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A5F"/>
                </a:solidFill>
                <a:latin typeface="Georgia"/>
              </a:rPr>
              <a:t>Het hoofdmodel — schat de reistijd in minuten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42032"/>
            <a:ext cx="104241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Bouwt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honderden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'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beslisbomen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' vol ja/nee-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vragen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(Is het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maandag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? Regent het?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Vakantie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?).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Neemt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het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gemiddelde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van alle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bomen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→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één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geschatte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reistijd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Waarom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? De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realiteit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is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niet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recht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: regen +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vorst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=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ijzel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is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erger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dan elk apart —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bomen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vangen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zulke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combinaties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Verklapt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ook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welke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factoren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het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zwaarst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wegen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(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zie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'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belangrijkste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features').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779008"/>
            <a:ext cx="10506456" cy="12700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10506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Simpel beeld:  </a:t>
            </a:r>
            <a:r>
              <a:rPr sz="1450" b="0">
                <a:solidFill>
                  <a:srgbClr val="6E747C"/>
                </a:solidFill>
                <a:latin typeface="Arial"/>
              </a:rPr>
              <a:t>vraag 300 experts en neem hun gemiddelde antwoord.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AANPAK · MODEL 3 VAN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Model 3 — Random Forest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06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A5F"/>
                </a:solidFill>
                <a:latin typeface="Georgia"/>
              </a:rPr>
              <a:t>De beslissing — auto of trein?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42032"/>
            <a:ext cx="104241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Zelfde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bomen-techniek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, maar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geeft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geen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getal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—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een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keuze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Output: auto of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trein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, met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een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zekerheids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-%.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Waarom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? De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pendelaar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wil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geen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minuten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, maar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een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concreet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advies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Thuiswerken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komt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er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als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veiligheidsregel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bovenop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bij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zwaar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weer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 (</a:t>
            </a:r>
            <a:r>
              <a:rPr sz="1600" b="0" dirty="0" err="1">
                <a:solidFill>
                  <a:srgbClr val="1A1A1A"/>
                </a:solidFill>
                <a:latin typeface="Arial"/>
              </a:rPr>
              <a:t>sneeuw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/storm).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779008"/>
            <a:ext cx="10506456" cy="12700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10506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Simpel beeld:  </a:t>
            </a:r>
            <a:r>
              <a:rPr sz="1450" b="0">
                <a:solidFill>
                  <a:srgbClr val="6E747C"/>
                </a:solidFill>
                <a:latin typeface="Arial"/>
              </a:rPr>
              <a:t>een stemming onder de 300 bomen — de meerderheid beslist.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AANPAK ·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Hoe trainen we het model?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" y="2057400"/>
            <a:ext cx="164592" cy="190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56816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Georgia"/>
              </a:rPr>
              <a:t>15 features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Arial"/>
              </a:rPr>
              <a:t>weer (06–09h venster) + kalender — allemaal de avond vóór de rit bekend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081528"/>
            <a:ext cx="164592" cy="190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980944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Georgia"/>
              </a:rPr>
              <a:t>Twee doelen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Arial"/>
              </a:rPr>
              <a:t>reistijd in minuten (regressie)  ·  auto sneller dan trein? (classificatie)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105656"/>
            <a:ext cx="164592" cy="190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005072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Georgia"/>
              </a:rPr>
              <a:t>Train/test split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Arial"/>
              </a:rPr>
              <a:t>80% / 20% chronologisch — géén shuffle (tijdreeks mag de toekomst niet 'zien')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129784"/>
            <a:ext cx="164592" cy="190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0292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Georgia"/>
              </a:rPr>
              <a:t>Formule of niet?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Arial"/>
              </a:rPr>
              <a:t>het model is géén formule — het leert uit data. Maar ons éérste doel (car_est_min = OSRM × weekdag × weer) wás een formule → leakage (Les 1). De eerlijke versie traint op gemeten car_real_min.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AANPAK · AUTO-SCHATTING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dirty="0" err="1">
                <a:solidFill>
                  <a:srgbClr val="1A1A1A"/>
                </a:solidFill>
                <a:latin typeface="Georgia"/>
              </a:rPr>
              <a:t>Reistijd</a:t>
            </a:r>
            <a:r>
              <a:rPr sz="3300" b="0" dirty="0">
                <a:solidFill>
                  <a:srgbClr val="1A1A1A"/>
                </a:solidFill>
                <a:latin typeface="Georgia"/>
              </a:rPr>
              <a:t> × </a:t>
            </a:r>
            <a:r>
              <a:rPr sz="3300" b="0" dirty="0" err="1">
                <a:solidFill>
                  <a:srgbClr val="1A1A1A"/>
                </a:solidFill>
                <a:latin typeface="Georgia"/>
              </a:rPr>
              <a:t>weekdag</a:t>
            </a:r>
            <a:r>
              <a:rPr sz="3300" b="0" dirty="0">
                <a:solidFill>
                  <a:srgbClr val="1A1A1A"/>
                </a:solidFill>
                <a:latin typeface="Georgia"/>
              </a:rPr>
              <a:t> × </a:t>
            </a:r>
            <a:r>
              <a:rPr sz="3300" b="0" dirty="0" err="1">
                <a:solidFill>
                  <a:srgbClr val="1A1A1A"/>
                </a:solidFill>
                <a:latin typeface="Georgia"/>
              </a:rPr>
              <a:t>weer</a:t>
            </a:r>
            <a:endParaRPr sz="3300" b="0" dirty="0">
              <a:solidFill>
                <a:srgbClr val="1A1A1A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10506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Drukkere weekdagen (ma &amp; do) en slecht weer verlengen de geschatte reistijd. </a:t>
            </a:r>
            <a:r>
              <a:rPr sz="1600" b="0">
                <a:solidFill>
                  <a:srgbClr val="6E747C"/>
                </a:solidFill>
                <a:latin typeface="Arial"/>
              </a:rPr>
              <a:t>Zo bouwden we de eerste (synthetische) auto-schatting op — zie Les 1.</a:t>
            </a:r>
          </a:p>
        </p:txBody>
      </p:sp>
      <p:pic>
        <p:nvPicPr>
          <p:cNvPr id="6" name="Picture 5" descr="plot_v2_car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119" y="2542032"/>
            <a:ext cx="9900713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F94C3E-CF8F-5440-5B40-624588849FF0}"/>
              </a:ext>
            </a:extLst>
          </p:cNvPr>
          <p:cNvSpPr txBox="1"/>
          <p:nvPr/>
        </p:nvSpPr>
        <p:spPr>
          <a:xfrm>
            <a:off x="3044952" y="1256294"/>
            <a:ext cx="3849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Weerrisico score per maand x weekdag</a:t>
            </a:r>
            <a:endParaRPr lang="en-US" dirty="0"/>
          </a:p>
        </p:txBody>
      </p:sp>
      <p:pic>
        <p:nvPicPr>
          <p:cNvPr id="3" name="Afbeelding 10">
            <a:extLst>
              <a:ext uri="{FF2B5EF4-FFF2-40B4-BE49-F238E27FC236}">
                <a16:creationId xmlns:a16="http://schemas.microsoft.com/office/drawing/2014/main" id="{4C305671-21A7-0849-3EAE-9055AEC2FB1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11400" y="1912680"/>
            <a:ext cx="9155520" cy="347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1FB1ECC9-B532-9AE8-DCC8-2EDBE290DDFE}"/>
              </a:ext>
            </a:extLst>
          </p:cNvPr>
          <p:cNvSpPr/>
          <p:nvPr/>
        </p:nvSpPr>
        <p:spPr>
          <a:xfrm>
            <a:off x="9708480" y="2566080"/>
            <a:ext cx="3657240" cy="1799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 dirty="0">
                <a:effectLst/>
                <a:uFillTx/>
                <a:latin typeface="Calibri"/>
              </a:rPr>
              <a:t>   regen ≥ 2 mm   → +2 </a:t>
            </a:r>
            <a:r>
              <a:rPr lang="en-US" sz="1300" b="0" u="none" strike="noStrike" dirty="0" err="1">
                <a:effectLst/>
                <a:uFillTx/>
                <a:latin typeface="Calibri"/>
              </a:rPr>
              <a:t>punten</a:t>
            </a:r>
            <a:endParaRPr lang="en-US" sz="1300" b="0" u="none" strike="noStrike" dirty="0"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 dirty="0">
                <a:effectLst/>
                <a:uFillTx/>
                <a:latin typeface="Calibri"/>
              </a:rPr>
              <a:t>   wind ≥ 45 km/h → +2 </a:t>
            </a:r>
            <a:r>
              <a:rPr lang="en-US" sz="1300" b="0" u="none" strike="noStrike" dirty="0" err="1">
                <a:effectLst/>
                <a:uFillTx/>
                <a:latin typeface="Calibri"/>
              </a:rPr>
              <a:t>punten</a:t>
            </a:r>
            <a:endParaRPr lang="en-US" sz="1300" b="0" u="none" strike="noStrike" dirty="0"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 dirty="0">
                <a:effectLst/>
                <a:uFillTx/>
                <a:latin typeface="Calibri"/>
              </a:rPr>
              <a:t>   </a:t>
            </a:r>
            <a:r>
              <a:rPr lang="en-US" sz="1300" b="0" u="none" strike="noStrike" dirty="0" err="1">
                <a:effectLst/>
                <a:uFillTx/>
                <a:latin typeface="Calibri"/>
              </a:rPr>
              <a:t>vorst</a:t>
            </a:r>
            <a:r>
              <a:rPr lang="en-US" sz="1300" b="0" u="none" strike="noStrike" dirty="0">
                <a:effectLst/>
                <a:uFillTx/>
                <a:latin typeface="Calibri"/>
              </a:rPr>
              <a:t> ≤ 0°C    → +1 punt</a:t>
            </a:r>
            <a:endParaRPr lang="en-US" sz="1300" b="0" u="none" strike="noStrike" dirty="0"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 dirty="0">
                <a:effectLst/>
                <a:uFillTx/>
                <a:latin typeface="Calibri"/>
              </a:rPr>
              <a:t>   </a:t>
            </a:r>
            <a:r>
              <a:rPr lang="en-US" sz="1300" b="0" u="none" strike="noStrike" dirty="0" err="1">
                <a:effectLst/>
                <a:uFillTx/>
                <a:latin typeface="Calibri"/>
              </a:rPr>
              <a:t>sneeuw</a:t>
            </a:r>
            <a:r>
              <a:rPr lang="en-US" sz="1300" b="0" u="none" strike="noStrike" dirty="0">
                <a:effectLst/>
                <a:uFillTx/>
                <a:latin typeface="Calibri"/>
              </a:rPr>
              <a:t> &gt; 0 cm  → +3 </a:t>
            </a:r>
            <a:r>
              <a:rPr lang="en-US" sz="1300" b="0" u="none" strike="noStrike" dirty="0" err="1">
                <a:effectLst/>
                <a:uFillTx/>
                <a:latin typeface="Calibri"/>
              </a:rPr>
              <a:t>punten</a:t>
            </a:r>
            <a:endParaRPr lang="en-US" sz="1300" b="0" u="none" strike="noStrike" dirty="0"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 dirty="0">
                <a:effectLst/>
                <a:uFillTx/>
                <a:latin typeface="Calibri"/>
              </a:rPr>
              <a:t>   </a:t>
            </a:r>
            <a:r>
              <a:rPr lang="en-US" sz="1300" b="0" u="none" strike="noStrike" dirty="0" err="1">
                <a:effectLst/>
                <a:uFillTx/>
                <a:latin typeface="Calibri"/>
              </a:rPr>
              <a:t>vochtig</a:t>
            </a:r>
            <a:r>
              <a:rPr lang="en-US" sz="1300" b="0" u="none" strike="noStrike" dirty="0">
                <a:effectLst/>
                <a:uFillTx/>
                <a:latin typeface="Calibri"/>
              </a:rPr>
              <a:t> ≥ 97%  → +1 punt</a:t>
            </a:r>
            <a:endParaRPr lang="en-US" sz="1300" b="0" u="none" strike="noStrike" dirty="0"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 dirty="0">
                <a:effectLst/>
                <a:uFillTx/>
                <a:latin typeface="Calibri"/>
              </a:rPr>
              <a:t>   ─────────────────────</a:t>
            </a:r>
            <a:endParaRPr lang="en-US" sz="1300" b="0" u="none" strike="noStrike" dirty="0"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 dirty="0">
                <a:effectLst/>
                <a:uFillTx/>
                <a:latin typeface="Calibri"/>
              </a:rPr>
              <a:t>   </a:t>
            </a:r>
            <a:r>
              <a:rPr lang="en-US" sz="1300" b="0" u="none" strike="noStrike" dirty="0" err="1">
                <a:effectLst/>
                <a:uFillTx/>
                <a:latin typeface="Calibri"/>
              </a:rPr>
              <a:t>Totaal</a:t>
            </a:r>
            <a:r>
              <a:rPr lang="en-US" sz="1300" b="0" u="none" strike="noStrike" dirty="0">
                <a:effectLst/>
                <a:uFillTx/>
                <a:latin typeface="Calibri"/>
              </a:rPr>
              <a:t>: 0–9</a:t>
            </a:r>
            <a:endParaRPr lang="en-US" sz="13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3B812-98FE-199D-3A7F-02B2CC0DD0A2}"/>
              </a:ext>
            </a:extLst>
          </p:cNvPr>
          <p:cNvSpPr txBox="1"/>
          <p:nvPr/>
        </p:nvSpPr>
        <p:spPr>
          <a:xfrm>
            <a:off x="841248" y="393186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dirty="0" err="1">
                <a:solidFill>
                  <a:srgbClr val="1A1A1A"/>
                </a:solidFill>
                <a:latin typeface="Georgia"/>
              </a:rPr>
              <a:t>Reistijd</a:t>
            </a:r>
            <a:r>
              <a:rPr sz="3300" b="0" dirty="0">
                <a:solidFill>
                  <a:srgbClr val="1A1A1A"/>
                </a:solidFill>
                <a:latin typeface="Georgia"/>
              </a:rPr>
              <a:t> × </a:t>
            </a:r>
            <a:r>
              <a:rPr sz="3300" b="0" dirty="0" err="1">
                <a:solidFill>
                  <a:srgbClr val="1A1A1A"/>
                </a:solidFill>
                <a:latin typeface="Georgia"/>
              </a:rPr>
              <a:t>weekdag</a:t>
            </a:r>
            <a:r>
              <a:rPr sz="3300" b="0" dirty="0">
                <a:solidFill>
                  <a:srgbClr val="1A1A1A"/>
                </a:solidFill>
                <a:latin typeface="Georgia"/>
              </a:rPr>
              <a:t> × </a:t>
            </a:r>
            <a:r>
              <a:rPr sz="3300" b="0" dirty="0" err="1">
                <a:solidFill>
                  <a:srgbClr val="1A1A1A"/>
                </a:solidFill>
                <a:latin typeface="Georgia"/>
              </a:rPr>
              <a:t>weer</a:t>
            </a:r>
            <a:endParaRPr sz="3300" b="0" dirty="0">
              <a:solidFill>
                <a:srgbClr val="1A1A1A"/>
              </a:solidFill>
              <a:latin typeface="Georgi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B7C8AC-DEA8-A19E-BCE1-493FB4D64673}"/>
              </a:ext>
            </a:extLst>
          </p:cNvPr>
          <p:cNvSpPr/>
          <p:nvPr/>
        </p:nvSpPr>
        <p:spPr>
          <a:xfrm>
            <a:off x="841248" y="941832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7391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LES 1 — DE VALKUIL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Een R² van 0,99 was geen succes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658368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dirty="0">
                <a:solidFill>
                  <a:srgbClr val="1A1A1A"/>
                </a:solidFill>
                <a:latin typeface="Arial"/>
              </a:rPr>
              <a:t>Ons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eerste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auto-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doel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was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een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fórmule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van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dezelfde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gegevens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 err="1">
                <a:solidFill>
                  <a:srgbClr val="1F3A5F"/>
                </a:solidFill>
                <a:latin typeface="Arial"/>
              </a:rPr>
              <a:t>car_est_min</a:t>
            </a:r>
            <a:r>
              <a:rPr sz="1600" b="1" dirty="0">
                <a:solidFill>
                  <a:srgbClr val="1F3A5F"/>
                </a:solidFill>
                <a:latin typeface="Arial"/>
              </a:rPr>
              <a:t>  =  OSRM × </a:t>
            </a:r>
            <a:r>
              <a:rPr sz="1600" b="1" dirty="0" err="1">
                <a:solidFill>
                  <a:srgbClr val="1F3A5F"/>
                </a:solidFill>
                <a:latin typeface="Arial"/>
              </a:rPr>
              <a:t>weekdagfactor</a:t>
            </a:r>
            <a:r>
              <a:rPr sz="1600" b="1" dirty="0">
                <a:solidFill>
                  <a:srgbClr val="1F3A5F"/>
                </a:solidFill>
                <a:latin typeface="Arial"/>
              </a:rPr>
              <a:t> × </a:t>
            </a:r>
            <a:r>
              <a:rPr sz="1600" b="1" dirty="0" err="1">
                <a:solidFill>
                  <a:srgbClr val="1F3A5F"/>
                </a:solidFill>
                <a:latin typeface="Arial"/>
              </a:rPr>
              <a:t>weerfactor</a:t>
            </a:r>
            <a:endParaRPr sz="1600" b="1" dirty="0">
              <a:solidFill>
                <a:srgbClr val="1F3A5F"/>
              </a:solidFill>
              <a:latin typeface="Arial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dirty="0">
                <a:solidFill>
                  <a:srgbClr val="1A1A1A"/>
                </a:solidFill>
                <a:latin typeface="Arial"/>
              </a:rPr>
              <a:t>Het model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leerde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dus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gewoon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zijn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eigen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formule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terug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. Het '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voorspelde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'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niets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nieuws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—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dat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A1A1A"/>
                </a:solidFill>
                <a:latin typeface="Arial"/>
              </a:rPr>
              <a:t>heet</a:t>
            </a:r>
            <a:r>
              <a:rPr sz="1700" b="0" dirty="0">
                <a:solidFill>
                  <a:srgbClr val="1A1A1A"/>
                </a:solidFill>
                <a:latin typeface="Arial"/>
              </a:rPr>
              <a:t> target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10312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0">
                <a:solidFill>
                  <a:srgbClr val="1A1A1A"/>
                </a:solidFill>
                <a:latin typeface="Georgia"/>
              </a:rPr>
              <a:t>R² 0,99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6E747C"/>
                </a:solidFill>
                <a:latin typeface="Georgia"/>
              </a:rPr>
              <a:t>MAE 0,1 min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Arial"/>
              </a:rPr>
              <a:t>te mooi om waar te zijn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HET VERSCHIL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Synthetisch vs. gemeten — wat is het?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53328" y="2057400"/>
            <a:ext cx="16510" cy="3794760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103120"/>
            <a:ext cx="484632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1A1A1A"/>
                </a:solidFill>
                <a:latin typeface="Arial"/>
              </a:rPr>
              <a:t>SYNTHETISCH — </a:t>
            </a:r>
            <a:r>
              <a:rPr sz="1600" b="1" dirty="0" err="1">
                <a:solidFill>
                  <a:srgbClr val="1A1A1A"/>
                </a:solidFill>
                <a:latin typeface="Arial"/>
              </a:rPr>
              <a:t>onze</a:t>
            </a:r>
            <a:r>
              <a:rPr sz="16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A1A1A"/>
                </a:solidFill>
                <a:latin typeface="Arial"/>
              </a:rPr>
              <a:t>formule</a:t>
            </a:r>
            <a:endParaRPr sz="1600" b="1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 err="1">
                <a:solidFill>
                  <a:srgbClr val="1F3A5F"/>
                </a:solidFill>
                <a:latin typeface="Arial"/>
              </a:rPr>
              <a:t>car_est_min</a:t>
            </a:r>
            <a:r>
              <a:rPr sz="1350" b="1" dirty="0">
                <a:solidFill>
                  <a:srgbClr val="1F3A5F"/>
                </a:solidFill>
                <a:latin typeface="Arial"/>
              </a:rPr>
              <a:t> · </a:t>
            </a:r>
            <a:r>
              <a:rPr sz="1350" b="1" dirty="0" err="1">
                <a:solidFill>
                  <a:srgbClr val="1F3A5F"/>
                </a:solidFill>
                <a:latin typeface="Arial"/>
              </a:rPr>
              <a:t>car_vc_est_min</a:t>
            </a:r>
            <a:endParaRPr sz="1350" b="1" dirty="0">
              <a:solidFill>
                <a:srgbClr val="1F3A5F"/>
              </a:solidFill>
              <a:latin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1A1A1A"/>
                </a:solidFill>
                <a:latin typeface="Arial"/>
              </a:rPr>
              <a:t>›  = OSRM-basis ×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weekdagfactor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×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weerfactor</a:t>
            </a:r>
            <a:endParaRPr sz="140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1A1A1A"/>
                </a:solidFill>
                <a:latin typeface="Arial"/>
              </a:rPr>
              <a:t>›  Geen meting —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een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regel die we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zélf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schreven</a:t>
            </a:r>
            <a:endParaRPr sz="140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1A1A1A"/>
                </a:solidFill>
                <a:latin typeface="Arial"/>
              </a:rPr>
              <a:t>› 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Beweegt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enkel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met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weekdag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&amp;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weer</a:t>
            </a:r>
            <a:endParaRPr sz="140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1A1A1A"/>
                </a:solidFill>
                <a:latin typeface="Arial"/>
              </a:rPr>
              <a:t>› 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Gemiddeld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~44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03120"/>
            <a:ext cx="484632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1F3A5F"/>
                </a:solidFill>
                <a:latin typeface="Arial"/>
              </a:rPr>
              <a:t>GEMETEN — Marc, 2025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 err="1">
                <a:solidFill>
                  <a:srgbClr val="1F3A5F"/>
                </a:solidFill>
                <a:latin typeface="Arial"/>
              </a:rPr>
              <a:t>car_real_min</a:t>
            </a:r>
            <a:endParaRPr sz="1350" b="1" dirty="0">
              <a:solidFill>
                <a:srgbClr val="1F3A5F"/>
              </a:solidFill>
              <a:latin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AWV-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lussen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tellen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échte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auto's → volume →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reistijd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(BPR-model)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Een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echte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dagmeting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, per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werkdag</a:t>
            </a:r>
            <a:endParaRPr sz="140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Beweegt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met het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werkelijke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verkeer</a:t>
            </a:r>
            <a:endParaRPr sz="140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1F3A5F"/>
                </a:solidFill>
                <a:latin typeface="Arial"/>
              </a:rPr>
              <a:t>›  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Gemiddeld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~96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6035040"/>
            <a:ext cx="10506456" cy="12700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6144768"/>
            <a:ext cx="10506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Het verschil:  </a:t>
            </a:r>
            <a:r>
              <a:rPr sz="1300" b="0">
                <a:solidFill>
                  <a:srgbClr val="6E747C"/>
                </a:solidFill>
                <a:latin typeface="Arial"/>
              </a:rPr>
              <a:t>correlatie r ≈ 0,01 (andere dagpatronen)  ·  ~2× hoger niveau  ·  de formule veroorzaakte de R²-leakage, de meting niet.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LES 2 — ECHTE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Gemeten verkeer vs. onze formule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10506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Formule ~44 min   vs   gemeten ~96 min</a:t>
            </a:r>
            <a:r>
              <a:rPr sz="1600" b="0">
                <a:solidFill>
                  <a:srgbClr val="6E747C"/>
                </a:solidFill>
                <a:latin typeface="Arial"/>
              </a:rPr>
              <a:t>   ·   correlatie r ≈ 0,01 — twee verschillende werelden.</a:t>
            </a:r>
          </a:p>
        </p:txBody>
      </p:sp>
      <p:pic>
        <p:nvPicPr>
          <p:cNvPr id="6" name="Picture 5" descr="plot_v2_synth_v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95" y="2542032"/>
            <a:ext cx="10417162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HET GEVOLG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De auto wint niet — de trein wel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10506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Formule: auto bijna élke dag.   </a:t>
            </a:r>
            <a:r>
              <a:rPr sz="1600" b="1">
                <a:solidFill>
                  <a:srgbClr val="2E7D32"/>
                </a:solidFill>
                <a:latin typeface="Arial"/>
              </a:rPr>
              <a:t>Gemeten: de trein wint op ~91% van de werkdagen.</a:t>
            </a:r>
          </a:p>
        </p:txBody>
      </p:sp>
      <p:pic>
        <p:nvPicPr>
          <p:cNvPr id="6" name="Picture 5" descr="plot_v2_advice_rederi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654" y="2542032"/>
            <a:ext cx="6295644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LES 3 — EERLIJK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Met echte data: eerlijk maar bescheiden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10506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Echt doel → R² ≈ 0 · gemiddelde fout ~9 min op een rit van ~94 min. </a:t>
            </a:r>
            <a:r>
              <a:rPr sz="1600" b="0">
                <a:solidFill>
                  <a:srgbClr val="6E747C"/>
                </a:solidFill>
                <a:latin typeface="Arial"/>
              </a:rPr>
              <a:t>Weer + kalender voorspellen de dagvariatie nauwelijks.</a:t>
            </a:r>
          </a:p>
        </p:txBody>
      </p:sp>
      <p:pic>
        <p:nvPicPr>
          <p:cNvPr id="6" name="Picture 5" descr="plot_v2_hones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02911"/>
            <a:ext cx="10506456" cy="29815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WAT TELT ÉCHT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Kalender vóór weer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10506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Feestdag 60 · brugdag 81 · schoolvakantie 90 · gewone dag 96 min. </a:t>
            </a:r>
            <a:r>
              <a:rPr sz="1600" b="0">
                <a:solidFill>
                  <a:srgbClr val="6E747C"/>
                </a:solidFill>
                <a:latin typeface="Arial"/>
              </a:rPr>
              <a:t>Hoe rustiger de dag, hoe sneller — weer speelt nauwelijks mee.</a:t>
            </a:r>
          </a:p>
        </p:txBody>
      </p:sp>
      <p:pic>
        <p:nvPicPr>
          <p:cNvPr id="6" name="Picture 5" descr="plot_v2_holiday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13" y="2542032"/>
            <a:ext cx="10500726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BELANGRIJKSTE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Wat weegt het zwaarst volgens het model?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10506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is_public_holiday is veruit de #1 voorspeller. </a:t>
            </a:r>
            <a:r>
              <a:rPr sz="1600" b="0">
                <a:solidFill>
                  <a:srgbClr val="6E747C"/>
                </a:solidFill>
                <a:latin typeface="Arial"/>
              </a:rPr>
              <a:t>De 3 kalendervlaggen samen wegen even zwaar als álle 7 weerfeatures.</a:t>
            </a:r>
          </a:p>
        </p:txBody>
      </p:sp>
      <p:pic>
        <p:nvPicPr>
          <p:cNvPr id="6" name="Picture 5" descr="plot_v2_holida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4549"/>
            <a:ext cx="10506456" cy="35782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BETROUWBAARHEID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Hoeveel buffer is realistisch?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10506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1A1A1A"/>
                </a:solidFill>
                <a:latin typeface="Arial"/>
              </a:rPr>
              <a:t>10 min ≈ 90% op </a:t>
            </a:r>
            <a:r>
              <a:rPr sz="1600" b="1" dirty="0" err="1">
                <a:solidFill>
                  <a:srgbClr val="1A1A1A"/>
                </a:solidFill>
                <a:latin typeface="Arial"/>
              </a:rPr>
              <a:t>tijd</a:t>
            </a:r>
            <a:r>
              <a:rPr sz="16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A1A1A"/>
                </a:solidFill>
                <a:latin typeface="Arial"/>
              </a:rPr>
              <a:t>voor</a:t>
            </a:r>
            <a:r>
              <a:rPr sz="1600" b="1" dirty="0">
                <a:solidFill>
                  <a:srgbClr val="1A1A1A"/>
                </a:solidFill>
                <a:latin typeface="Arial"/>
              </a:rPr>
              <a:t> de auto. </a:t>
            </a:r>
            <a:r>
              <a:rPr sz="1600" b="0" dirty="0">
                <a:solidFill>
                  <a:srgbClr val="6E747C"/>
                </a:solidFill>
                <a:latin typeface="Arial"/>
              </a:rPr>
              <a:t>Per modus: auto 14 min, </a:t>
            </a:r>
            <a:r>
              <a:rPr sz="1600" b="0" dirty="0" err="1">
                <a:solidFill>
                  <a:srgbClr val="6E747C"/>
                </a:solidFill>
                <a:latin typeface="Arial"/>
              </a:rPr>
              <a:t>trein</a:t>
            </a:r>
            <a:r>
              <a:rPr sz="1600" b="0" dirty="0">
                <a:solidFill>
                  <a:srgbClr val="6E747C"/>
                </a:solidFill>
                <a:latin typeface="Arial"/>
              </a:rPr>
              <a:t> 6 min </a:t>
            </a:r>
            <a:r>
              <a:rPr sz="1600" b="0" dirty="0" err="1">
                <a:solidFill>
                  <a:srgbClr val="6E747C"/>
                </a:solidFill>
                <a:latin typeface="Arial"/>
              </a:rPr>
              <a:t>voor</a:t>
            </a:r>
            <a:r>
              <a:rPr sz="1600" b="0" dirty="0">
                <a:solidFill>
                  <a:srgbClr val="6E747C"/>
                </a:solidFill>
                <a:latin typeface="Arial"/>
              </a:rPr>
              <a:t> ~95%.</a:t>
            </a:r>
          </a:p>
        </p:txBody>
      </p:sp>
      <p:pic>
        <p:nvPicPr>
          <p:cNvPr id="6" name="Picture 5" descr="plot_v2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77511"/>
            <a:ext cx="10506456" cy="3432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EERLIJKHEID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Hoe onze cijfers 'verbeterden'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10506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1A1A1A"/>
                </a:solidFill>
                <a:latin typeface="Arial"/>
              </a:rPr>
              <a:t>De R² </a:t>
            </a:r>
            <a:r>
              <a:rPr sz="1600" b="1" dirty="0" err="1">
                <a:solidFill>
                  <a:srgbClr val="1A1A1A"/>
                </a:solidFill>
                <a:latin typeface="Arial"/>
              </a:rPr>
              <a:t>daalde</a:t>
            </a:r>
            <a:r>
              <a:rPr sz="16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A1A1A"/>
                </a:solidFill>
                <a:latin typeface="Arial"/>
              </a:rPr>
              <a:t>naarmate</a:t>
            </a:r>
            <a:r>
              <a:rPr sz="1600" b="1" dirty="0">
                <a:solidFill>
                  <a:srgbClr val="1A1A1A"/>
                </a:solidFill>
                <a:latin typeface="Arial"/>
              </a:rPr>
              <a:t> we </a:t>
            </a:r>
            <a:r>
              <a:rPr sz="1600" b="1" dirty="0" err="1">
                <a:solidFill>
                  <a:srgbClr val="1A1A1A"/>
                </a:solidFill>
                <a:latin typeface="Arial"/>
              </a:rPr>
              <a:t>eerlijker</a:t>
            </a:r>
            <a:r>
              <a:rPr sz="16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A1A1A"/>
                </a:solidFill>
                <a:latin typeface="Arial"/>
              </a:rPr>
              <a:t>werden</a:t>
            </a:r>
            <a:r>
              <a:rPr sz="1600" b="1" dirty="0">
                <a:solidFill>
                  <a:srgbClr val="1A1A1A"/>
                </a:solidFill>
                <a:latin typeface="Arial"/>
              </a:rPr>
              <a:t>. </a:t>
            </a:r>
            <a:r>
              <a:rPr sz="1600" b="0" dirty="0" err="1">
                <a:solidFill>
                  <a:srgbClr val="6E747C"/>
                </a:solidFill>
                <a:latin typeface="Arial"/>
              </a:rPr>
              <a:t>Lagere</a:t>
            </a:r>
            <a:r>
              <a:rPr sz="1600" b="0" dirty="0">
                <a:solidFill>
                  <a:srgbClr val="6E747C"/>
                </a:solidFill>
                <a:latin typeface="Arial"/>
              </a:rPr>
              <a:t> R² = minder </a:t>
            </a:r>
            <a:r>
              <a:rPr sz="1600" b="0" dirty="0" err="1">
                <a:solidFill>
                  <a:srgbClr val="6E747C"/>
                </a:solidFill>
                <a:latin typeface="Arial"/>
              </a:rPr>
              <a:t>zelfbedrog</a:t>
            </a:r>
            <a:r>
              <a:rPr sz="1600" b="0" dirty="0">
                <a:solidFill>
                  <a:srgbClr val="6E747C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6E747C"/>
                </a:solidFill>
                <a:latin typeface="Arial"/>
              </a:rPr>
              <a:t>niet</a:t>
            </a:r>
            <a:r>
              <a:rPr sz="1600" b="0" dirty="0">
                <a:solidFill>
                  <a:srgbClr val="6E747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E747C"/>
                </a:solidFill>
                <a:latin typeface="Arial"/>
              </a:rPr>
              <a:t>een</a:t>
            </a:r>
            <a:r>
              <a:rPr sz="1600" b="0" dirty="0">
                <a:solidFill>
                  <a:srgbClr val="6E747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E747C"/>
                </a:solidFill>
                <a:latin typeface="Arial"/>
              </a:rPr>
              <a:t>slechter</a:t>
            </a:r>
            <a:r>
              <a:rPr sz="1600" b="0" dirty="0">
                <a:solidFill>
                  <a:srgbClr val="6E747C"/>
                </a:solidFill>
                <a:latin typeface="Arial"/>
              </a:rPr>
              <a:t> model.</a:t>
            </a:r>
          </a:p>
        </p:txBody>
      </p:sp>
      <p:pic>
        <p:nvPicPr>
          <p:cNvPr id="6" name="Picture 5" descr="plot_v2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543434"/>
            <a:ext cx="10506456" cy="37005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50 SCENARIO'S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Het model getest op 50 situaties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10506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Elke weekdag × weertype — van ideale vrijdag tot sneeuwstorm. Aanbeveling per dag: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06040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>
                <a:solidFill>
                  <a:srgbClr val="2E7D32"/>
                </a:solidFill>
                <a:latin typeface="Georgia"/>
              </a:rPr>
              <a:t>40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6E747C"/>
                </a:solidFill>
                <a:latin typeface="Arial"/>
              </a:rPr>
              <a:t>× trein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8808" y="2606040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>
                <a:solidFill>
                  <a:srgbClr val="C0392B"/>
                </a:solidFill>
                <a:latin typeface="Georgia"/>
              </a:rPr>
              <a:t>2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6E747C"/>
                </a:solidFill>
                <a:latin typeface="Arial"/>
              </a:rPr>
              <a:t>× auto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2606040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>
                <a:solidFill>
                  <a:srgbClr val="FB8C00"/>
                </a:solidFill>
                <a:latin typeface="Georgia"/>
              </a:rPr>
              <a:t>8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6E747C"/>
                </a:solidFill>
                <a:latin typeface="Arial"/>
              </a:rPr>
              <a:t>× thuiswerken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572000"/>
            <a:ext cx="164592" cy="1905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5354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2E7D32"/>
                </a:solidFill>
                <a:latin typeface="Arial"/>
              </a:rPr>
              <a:t>Trein — de </a:t>
            </a:r>
            <a:r>
              <a:rPr sz="1450" b="1" dirty="0" err="1">
                <a:solidFill>
                  <a:srgbClr val="2E7D32"/>
                </a:solidFill>
                <a:latin typeface="Arial"/>
              </a:rPr>
              <a:t>standaard</a:t>
            </a:r>
            <a:r>
              <a:rPr sz="1450" b="1" dirty="0">
                <a:solidFill>
                  <a:srgbClr val="2E7D32"/>
                </a:solidFill>
                <a:latin typeface="Arial"/>
              </a:rPr>
              <a:t>  — 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o.a.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ideale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vrijdag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,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typische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dinsdag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,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zomervakantie</a:t>
            </a:r>
            <a:endParaRPr sz="1450" b="0" dirty="0">
              <a:solidFill>
                <a:srgbClr val="6E747C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1248" y="5120640"/>
            <a:ext cx="164592" cy="190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10692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C0392B"/>
                </a:solidFill>
                <a:latin typeface="Arial"/>
              </a:rPr>
              <a:t>Auto — </a:t>
            </a:r>
            <a:r>
              <a:rPr sz="1450" b="1" dirty="0" err="1">
                <a:solidFill>
                  <a:srgbClr val="C0392B"/>
                </a:solidFill>
                <a:latin typeface="Arial"/>
              </a:rPr>
              <a:t>enkel</a:t>
            </a:r>
            <a:r>
              <a:rPr sz="1450" b="1" dirty="0">
                <a:solidFill>
                  <a:srgbClr val="C0392B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C0392B"/>
                </a:solidFill>
                <a:latin typeface="Arial"/>
              </a:rPr>
              <a:t>rustige</a:t>
            </a:r>
            <a:r>
              <a:rPr sz="1450" b="1" dirty="0">
                <a:solidFill>
                  <a:srgbClr val="C0392B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C0392B"/>
                </a:solidFill>
                <a:latin typeface="Arial"/>
              </a:rPr>
              <a:t>vrijdagen</a:t>
            </a:r>
            <a:r>
              <a:rPr sz="1450" b="1" dirty="0">
                <a:solidFill>
                  <a:srgbClr val="C0392B"/>
                </a:solidFill>
                <a:latin typeface="Arial"/>
              </a:rPr>
              <a:t>  — 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vrijdag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 + (mot)regen: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lichtste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 spits, auto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nét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competitief</a:t>
            </a:r>
            <a:endParaRPr sz="1450" b="0" dirty="0">
              <a:solidFill>
                <a:srgbClr val="6E747C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1248" y="5669279"/>
            <a:ext cx="164592" cy="19050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660136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 err="1">
                <a:solidFill>
                  <a:srgbClr val="FB8C00"/>
                </a:solidFill>
                <a:latin typeface="Arial"/>
              </a:rPr>
              <a:t>Thuiswerken</a:t>
            </a:r>
            <a:r>
              <a:rPr sz="1450" b="1" dirty="0">
                <a:solidFill>
                  <a:srgbClr val="FB8C00"/>
                </a:solidFill>
                <a:latin typeface="Arial"/>
              </a:rPr>
              <a:t> — </a:t>
            </a:r>
            <a:r>
              <a:rPr sz="1450" b="1" dirty="0" err="1">
                <a:solidFill>
                  <a:srgbClr val="FB8C00"/>
                </a:solidFill>
                <a:latin typeface="Arial"/>
              </a:rPr>
              <a:t>zwaar</a:t>
            </a:r>
            <a:r>
              <a:rPr sz="1450" b="1" dirty="0">
                <a:solidFill>
                  <a:srgbClr val="FB8C00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B8C00"/>
                </a:solidFill>
                <a:latin typeface="Arial"/>
              </a:rPr>
              <a:t>weer</a:t>
            </a:r>
            <a:r>
              <a:rPr sz="1450" b="1" dirty="0">
                <a:solidFill>
                  <a:srgbClr val="FB8C00"/>
                </a:solidFill>
                <a:latin typeface="Arial"/>
              </a:rPr>
              <a:t>  — 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sneeuw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(storm),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winterstorm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,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orkaan</a:t>
            </a:r>
            <a:r>
              <a:rPr sz="1450" b="0" dirty="0">
                <a:solidFill>
                  <a:srgbClr val="6E747C"/>
                </a:solidFill>
                <a:latin typeface="Arial"/>
              </a:rPr>
              <a:t>  ·  + </a:t>
            </a:r>
            <a:r>
              <a:rPr sz="1450" b="0" dirty="0" err="1">
                <a:solidFill>
                  <a:srgbClr val="6E747C"/>
                </a:solidFill>
                <a:latin typeface="Arial"/>
              </a:rPr>
              <a:t>feestdagen</a:t>
            </a:r>
            <a:endParaRPr sz="1450" b="0" dirty="0">
              <a:solidFill>
                <a:srgbClr val="6E747C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50 SCENARIO'S — RESULTATEN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Een greep uit de 50 gevallen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E747C"/>
                </a:solidFill>
                <a:latin typeface="Arial"/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9933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E747C"/>
                </a:solidFill>
                <a:latin typeface="Arial"/>
              </a:rPr>
              <a:t>AUTO-TIJD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993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E747C"/>
                </a:solidFill>
                <a:latin typeface="Arial"/>
              </a:rPr>
              <a:t>RISICO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9933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E747C"/>
                </a:solidFill>
                <a:latin typeface="Arial"/>
              </a:rPr>
              <a:t>ADVIES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286000"/>
            <a:ext cx="10506456" cy="152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Ideale vrijdag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6888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85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46888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4688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Arial"/>
              </a:rPr>
              <a:t>trein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743200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278434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Typische dinsdag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78434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100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78434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7843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Arial"/>
              </a:rPr>
              <a:t>trein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3058668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3099815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Maandag + zware regen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099815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93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099815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09981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Arial"/>
              </a:rPr>
              <a:t>trein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3374135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3415283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Zomervakantie — rustig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415283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95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415283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415283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Arial"/>
              </a:rPr>
              <a:t>trein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3689603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3730751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Hittegolf vrijdag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730751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85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730751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73075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Arial"/>
              </a:rPr>
              <a:t>trein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4005071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4046219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Koude regenachtige maandag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046219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94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046219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04621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Arial"/>
              </a:rPr>
              <a:t>trein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4320539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" y="4361687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1A1A1A"/>
                </a:solidFill>
                <a:latin typeface="Arial"/>
              </a:rPr>
              <a:t>Vrijdag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 + </a:t>
            </a:r>
            <a:r>
              <a:rPr sz="1300" b="0" dirty="0" err="1">
                <a:solidFill>
                  <a:srgbClr val="1A1A1A"/>
                </a:solidFill>
                <a:latin typeface="Arial"/>
              </a:rPr>
              <a:t>motregen</a:t>
            </a:r>
            <a:endParaRPr sz="1300" b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35040" y="4361687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92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361687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361687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Arial"/>
              </a:rPr>
              <a:t>auto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" y="4636007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" y="4677155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1A1A1A"/>
                </a:solidFill>
                <a:latin typeface="Arial"/>
              </a:rPr>
              <a:t>Koude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Arial"/>
              </a:rPr>
              <a:t>regenachtige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Arial"/>
              </a:rPr>
              <a:t>vrijdag</a:t>
            </a:r>
            <a:endParaRPr sz="1300" b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35040" y="4677155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91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4677155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67715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C0392B"/>
                </a:solidFill>
                <a:latin typeface="Arial"/>
              </a:rPr>
              <a:t>auto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" y="4951475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1248" y="4992623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Sneeuwdag januari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992623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A1A1A"/>
                </a:solidFill>
                <a:latin typeface="Arial"/>
              </a:rPr>
              <a:t>87 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4992623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992623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FB8C00"/>
                </a:solidFill>
                <a:latin typeface="Arial"/>
              </a:rPr>
              <a:t>thuiswerken</a:t>
            </a:r>
            <a:endParaRPr sz="1300" b="1" dirty="0">
              <a:solidFill>
                <a:srgbClr val="FB8C00"/>
              </a:solidFill>
              <a:latin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41248" y="5266943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1248" y="5308091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Sneeuwstorm (code rood)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5308091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A1A1A"/>
                </a:solidFill>
                <a:latin typeface="Arial"/>
              </a:rPr>
              <a:t>88 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5308091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30809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B8C00"/>
                </a:solidFill>
                <a:latin typeface="Arial"/>
              </a:rPr>
              <a:t>thuiswerken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" y="5582411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1248" y="5623559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Winterstorm dinsdag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5623559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A1A1A"/>
                </a:solidFill>
                <a:latin typeface="Arial"/>
              </a:rPr>
              <a:t>92 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5623559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Arial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5623559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B8C00"/>
                </a:solidFill>
                <a:latin typeface="Arial"/>
              </a:rPr>
              <a:t>thuiswerken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" y="5897879"/>
            <a:ext cx="10506456" cy="9525"/>
          </a:xfrm>
          <a:prstGeom prst="rect">
            <a:avLst/>
          </a:prstGeom>
          <a:solidFill>
            <a:srgbClr val="DE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1248" y="5993891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Arial"/>
              </a:rPr>
              <a:t>Volledige set van 50: scenario_predictions_2025_real.png / .csv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48640"/>
            <a:ext cx="10506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CONCLUSIE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41248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A1A1A"/>
                </a:solidFill>
                <a:latin typeface="Georgia"/>
              </a:rPr>
              <a:t>Wat we écht weten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1371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" y="2057400"/>
            <a:ext cx="164592" cy="203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56816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A1A1A"/>
                </a:solidFill>
                <a:latin typeface="Georgia"/>
              </a:rPr>
              <a:t>Neem de trein op ~9 van de 10 werkdagen.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E747C"/>
                </a:solidFill>
                <a:latin typeface="Arial"/>
              </a:rPr>
              <a:t>De auto wint enkel op rustige dagen (vakantie / feestdag).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081528"/>
            <a:ext cx="164592" cy="203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980944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A1A1A"/>
                </a:solidFill>
                <a:latin typeface="Georgia"/>
              </a:rPr>
              <a:t>Het model is kalender-eerst, weer-licht.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E747C"/>
                </a:solidFill>
                <a:latin typeface="Arial"/>
              </a:rPr>
              <a:t>Het is een planningshulp, geen exacte minuut-voorspeller.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105656"/>
            <a:ext cx="164592" cy="203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00507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A1A1A"/>
                </a:solidFill>
                <a:latin typeface="Georgia"/>
              </a:rPr>
              <a:t>Eerlijkheid boven een hoge R².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E747C"/>
                </a:solidFill>
                <a:latin typeface="Arial"/>
              </a:rPr>
              <a:t>De 0,99 was leakage; ~9 min fout is de waarheid.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129784"/>
            <a:ext cx="164592" cy="203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0292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A1A1A"/>
                </a:solidFill>
                <a:latin typeface="Georgia"/>
              </a:rPr>
              <a:t>Beperkingen.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E747C"/>
                </a:solidFill>
                <a:latin typeface="Arial"/>
              </a:rPr>
              <a:t>1 jaar echte auto-data · gemeten reistijd is zelf een model (60–120 min geklemd) · dagniveau blijft deels onvoorspelbaar.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Gent → Mechelen · slimmer pendelen met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47C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2468880"/>
            <a:ext cx="219456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269748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0">
                <a:solidFill>
                  <a:srgbClr val="1A1A1A"/>
                </a:solidFill>
                <a:latin typeface="Georgia"/>
              </a:rPr>
              <a:t>Bedankt — vragen?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E747C"/>
                </a:solidFill>
                <a:latin typeface="Arial"/>
              </a:rPr>
              <a:t>Volledige analyse: </a:t>
            </a:r>
            <a:r>
              <a:rPr sz="1500" b="1">
                <a:solidFill>
                  <a:srgbClr val="1F3A5F"/>
                </a:solidFill>
                <a:latin typeface="Arial"/>
              </a:rPr>
              <a:t>01_data_exploration_combined_v2.ipynb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806440"/>
            <a:ext cx="10058400" cy="195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dirty="0">
                <a:solidFill>
                  <a:srgbClr val="6E747C"/>
                </a:solidFill>
                <a:latin typeface="Arial"/>
              </a:rPr>
              <a:t>Laure · Jack · Maxime · Marc</a:t>
            </a:r>
            <a:r>
              <a:rPr lang="en-US" sz="1300" dirty="0">
                <a:solidFill>
                  <a:srgbClr val="6E747C"/>
                </a:solidFill>
                <a:latin typeface="Arial"/>
              </a:rPr>
              <a:t> · (Claude)</a:t>
            </a:r>
            <a:endParaRPr sz="1300" b="0" dirty="0">
              <a:solidFill>
                <a:srgbClr val="6E747C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1874</Words>
  <Application>Microsoft Office PowerPoint</Application>
  <PresentationFormat>Widescreen</PresentationFormat>
  <Paragraphs>276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Maxime Mylle</cp:lastModifiedBy>
  <cp:revision>2</cp:revision>
  <dcterms:created xsi:type="dcterms:W3CDTF">2013-01-27T09:14:16Z</dcterms:created>
  <dcterms:modified xsi:type="dcterms:W3CDTF">2026-06-22T18:11:44Z</dcterms:modified>
  <cp:category/>
</cp:coreProperties>
</file>