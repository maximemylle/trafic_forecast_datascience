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8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57"/>
    <p:restoredTop sz="94687"/>
  </p:normalViewPr>
  <p:slideViewPr>
    <p:cSldViewPr snapToGrid="0" snapToObjects="1">
      <p:cViewPr>
        <p:scale>
          <a:sx n="170" d="100"/>
          <a:sy n="170" d="100"/>
        </p:scale>
        <p:origin x="-34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2E806A-FB38-5242-9EAB-19CC030C81CA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8A5F6-2FCA-B74A-9736-959C00C7C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216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Gemiddelde</a:t>
            </a:r>
            <a:r>
              <a:rPr lang="en-US" dirty="0"/>
              <a:t> </a:t>
            </a:r>
            <a:r>
              <a:rPr lang="en-US" dirty="0" err="1"/>
              <a:t>daantal</a:t>
            </a:r>
            <a:r>
              <a:rPr lang="en-US" dirty="0"/>
              <a:t> </a:t>
            </a:r>
            <a:r>
              <a:rPr lang="en-US" dirty="0" err="1"/>
              <a:t>dagen</a:t>
            </a:r>
            <a:r>
              <a:rPr lang="en-US" dirty="0"/>
              <a:t> </a:t>
            </a:r>
            <a:r>
              <a:rPr lang="en-US" dirty="0" err="1"/>
              <a:t>tonen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08A5F6-2FCA-B74A-9736-959C00C7C9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72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Heatmap is factor for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08A5F6-2FCA-B74A-9736-959C00C7C9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942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Laure will do this one, delete the 2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08A5F6-2FCA-B74A-9736-959C00C7C99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1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686800" y="0"/>
            <a:ext cx="3657600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914400"/>
            <a:ext cx="228600" cy="228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Gent → Mechelen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C8A0"/>
                </a:solidFill>
                <a:latin typeface="Calibri"/>
              </a:rPr>
              <a:t>Slimmer Pendelen met 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34640"/>
            <a:ext cx="502920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B9DC3"/>
                </a:solidFill>
                <a:latin typeface="Calibri"/>
              </a:rPr>
              <a:t>Auto · Trein · Thuiswerken — welke keuze is slim vandaag?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097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9280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2768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6609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383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DATUM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7490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23 juni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DC3"/>
                </a:solidFill>
                <a:latin typeface="Calibri"/>
              </a:rPr>
              <a:t>Syntra Mechelen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Wat willen we bereiken?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9DC3"/>
                </a:solidFill>
                <a:latin typeface="Calibri"/>
              </a:rPr>
              <a:t>Elke ochtend één vraag beantwoorden: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"Hoe kom ik vandaag het best naar Mechelen?"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2423160"/>
            <a:ext cx="35661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Calibri"/>
              </a:rPr>
              <a:t>🚗 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E17 → R1 ring → E19
via Antwerpen (~75 km)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423160"/>
            <a:ext cx="3566160" cy="54864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🚆  TREIN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6324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Gent-Sint-Pieters → Mechelen
~58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2423160"/>
            <a:ext cx="3566160" cy="54864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9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2D4E"/>
                </a:solidFill>
                <a:latin typeface="Calibri"/>
              </a:rPr>
              <a:t>🏠  THUISWERKEN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Wanneer geen enkele modus
betrouwbaar genoeg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06440"/>
            <a:ext cx="11338560" cy="6858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📅  Scope: Belgische werkdagen van januari 2021 tot heden  ·  Data start in 2021 om COVID-lockdown (2020) te vermijden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Team &amp; Taakverdeling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20040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Verkeersdata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Vlaams Verkeercentrum
(reistijd E17→R1→E19)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188720"/>
            <a:ext cx="2743200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320040" cy="3200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Treindata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Infrabel punctualiteits-
geschiedenis 2021–2026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188720"/>
            <a:ext cx="2743200" cy="73152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55080" y="1371600"/>
            <a:ext cx="320040" cy="32004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Weerdata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Open-Meteo Archive API
(uurlijks, 2021–heden)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371600"/>
            <a:ext cx="320040" cy="32004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Coördinatie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Mockup project + pipeline
structuur &amp; opzet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TIJDLIJN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430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02/06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Taakver-
deling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862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09/06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Teams-
vergadering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16/06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Alignering +
presentatie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726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23/06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Presentatie
Syntra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5687568"/>
            <a:ext cx="10515600" cy="36576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6 Databronnen — Overzicht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Open-Meteo
Archief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Weerdata uurlijks
2021 → heden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Gratis · geen API-sleutel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16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holidays
(Python pkg)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Belgische feestdagen
2021 – 2028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Ingebouwde dataset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143000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7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39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iRail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39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NMBS-verbindingen
(schema, fallback)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39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Gratis · open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Infrabel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Echte treinpunctualiteit
48 maanden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data.gov.be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80" y="3749039"/>
            <a:ext cx="502920" cy="233172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616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Vrije doorstroomtijd
auto (referentie)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60FF"/>
                </a:solidFill>
                <a:latin typeface="Calibri"/>
              </a:rPr>
              <a:t>OpenStreetMap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3749039"/>
            <a:ext cx="502920" cy="233172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47887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39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Vlaams
Verkeercentrum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39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Gemeten reistijden
E17 → R1 → E19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099" y="5101231"/>
            <a:ext cx="292608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 dirty="0" err="1">
                <a:solidFill>
                  <a:srgbClr val="0099FF"/>
                </a:solidFill>
                <a:latin typeface="Calibri"/>
              </a:rPr>
              <a:t>indicatoren.verkeers</a:t>
            </a:r>
            <a:r>
              <a:rPr sz="1000" b="0" i="1" dirty="0">
                <a:solidFill>
                  <a:srgbClr val="0099FF"/>
                </a:solidFill>
                <a:latin typeface="Calibri"/>
              </a:rPr>
              <a:t>-
</a:t>
            </a:r>
            <a:r>
              <a:rPr sz="1000" b="0" i="1" dirty="0" err="1">
                <a:solidFill>
                  <a:srgbClr val="0099FF"/>
                </a:solidFill>
                <a:latin typeface="Calibri"/>
              </a:rPr>
              <a:t>centrum.be</a:t>
            </a:r>
            <a:br>
              <a:rPr lang="fr-FR" sz="1000" b="0" i="1" dirty="0">
                <a:solidFill>
                  <a:srgbClr val="0099FF"/>
                </a:solidFill>
                <a:latin typeface="Calibri"/>
              </a:rPr>
            </a:br>
            <a:br>
              <a:rPr lang="fr-FR" sz="1000" b="0" i="1" dirty="0">
                <a:solidFill>
                  <a:srgbClr val="0099FF"/>
                </a:solidFill>
                <a:latin typeface="Calibri"/>
              </a:rPr>
            </a:br>
            <a:r>
              <a:rPr lang="fr-FR" sz="1000" i="1" dirty="0">
                <a:solidFill>
                  <a:srgbClr val="0099FF"/>
                </a:solidFill>
              </a:rPr>
              <a:t>https://</a:t>
            </a:r>
            <a:r>
              <a:rPr lang="fr-FR" sz="1000" i="1" dirty="0" err="1">
                <a:solidFill>
                  <a:srgbClr val="0099FF"/>
                </a:solidFill>
              </a:rPr>
              <a:t>wegenenverkeer.vlaanderen.be</a:t>
            </a:r>
            <a:r>
              <a:rPr lang="fr-FR" sz="1000" i="1" dirty="0">
                <a:solidFill>
                  <a:srgbClr val="0099FF"/>
                </a:solidFill>
              </a:rPr>
              <a:t>/</a:t>
            </a:r>
            <a:r>
              <a:rPr lang="fr-FR" sz="1000" i="1" dirty="0" err="1">
                <a:solidFill>
                  <a:srgbClr val="0099FF"/>
                </a:solidFill>
              </a:rPr>
              <a:t>dataportaalverkeersgegevens</a:t>
            </a:r>
            <a:r>
              <a:rPr lang="fr-FR" sz="1000" i="1" dirty="0">
                <a:solidFill>
                  <a:srgbClr val="0099FF"/>
                </a:solidFill>
              </a:rPr>
              <a:t>/</a:t>
            </a:r>
            <a:endParaRPr sz="1000" b="0" i="1" dirty="0">
              <a:solidFill>
                <a:srgbClr val="0099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1: Weerdata — Open-Meteo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5720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Gratis API, geen registratie nodig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Uurlijkse data terug tot 1940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Locatie: Mechelen (aankomststad)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Venster: 06:00–09:00 (pendeltijd)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Samengevat per dag: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rain_total / rain_peak  (neerslag)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wind_peak / wind_mean   (wind)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5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temp_min / temp_mean    (temperatuur)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humidity_max            (mist-proxy)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snow_total              (sneeuwval)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760720"/>
            <a:ext cx="4572000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8521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💡  Winter &amp; herfst = meeste regen &amp; vorst tijdens pendel</a:t>
            </a:r>
          </a:p>
        </p:txBody>
      </p:sp>
      <p:pic>
        <p:nvPicPr>
          <p:cNvPr id="13" name="Picture 12" descr="plot_weath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097280"/>
            <a:ext cx="6766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 tijdens het Pendelvenster (06:00–09:00)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lot_commute_window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381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INZICHT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087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 heeft GEEN invloed op het weer — maandag is niet natter dan vrijdag.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42900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INZICHT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840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Weekdag-verkeerspatronen zijn 100% mensengedrag — niet het weer.</a:t>
            </a:r>
          </a:p>
        </p:txBody>
      </p:sp>
      <p:pic>
        <p:nvPicPr>
          <p:cNvPr id="11" name="Picture 10" descr="plot_weather_by_week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5669280"/>
            <a:ext cx="39319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2: Belgische Werkdagenkalender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84632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A0"/>
                </a:solidFill>
                <a:latin typeface="Calibri"/>
              </a:rPr>
              <a:t>holidays Python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2 021 – 2028 (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ook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toekomst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voor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forecasts)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is_workday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ma–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vr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EN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geen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feestdag</a:t>
            </a:r>
            <a:endParaRPr sz="14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is_school_holiday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juli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&amp;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augustus</a:t>
            </a:r>
            <a:endParaRPr sz="14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Seizoen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meteorologisch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(DJF/MAM/JJA/SON)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760720"/>
            <a:ext cx="4846320" cy="6858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💡  Mei &amp; november hebben de meeste feestdagen → lichtere pendel</a:t>
            </a:r>
          </a:p>
        </p:txBody>
      </p:sp>
      <p:pic>
        <p:nvPicPr>
          <p:cNvPr id="11" name="Picture 10" descr="plot_calendar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64008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4: Echte Treindata — Infrabel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50292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Waarom Infrabel en niet iRail?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iRail = real-time/toekomst — geen meerjarige vertragingshistorie.
Infrabel publiceert de échte aankomst- en vertrektijden per stop, per trein, elke dag.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48 maanden CSV (jan 2021 – apr 2026)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Filter: vertrekken uit Gent-Sint-Pieters 06–09h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Join: aankomst in Mechelen op zelfde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Dagelijks geaggregeerd (mediaan per dag)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526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Kolommen per 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train_planned_journey_min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48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train_actual_journey_min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98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train_delay_arr_median_s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7515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train_on_time_pct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train_cancelled_pct</a:t>
            </a:r>
          </a:p>
        </p:txBody>
      </p:sp>
      <p:pic>
        <p:nvPicPr>
          <p:cNvPr id="14" name="Picture 13" descr="plot_infrabe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3093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Treinpunctualiteit per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lot_infrabel_by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TREIN INZICHTEN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002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Maandag &amp; donderdag = hoogste vertragingen (Infrabel data)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Beide modi (auto &amp; trein) zijn tegelijk belast op piekmomenten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On-time rate varieert sterk per maand (winter = slechter)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Annuleringspercentage laag maar merkbaar bij extreme weer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5+6: Autorijdata — OSRM + Vlaams Verkeercentrum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1338560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Route: E17/A14 (Gent → Antwerpen)  ›  R1 buitenring  ›  E19/A1 (Antwerpen → Mechelen)  ·  ~75 km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94560"/>
            <a:ext cx="3474720" cy="3931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OSRM (referentie)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320040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Vermenigvuldigd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met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weekdag</a:t>
            </a:r>
            <a:r>
              <a:rPr sz="1200" dirty="0">
                <a:solidFill>
                  <a:srgbClr val="FFFFFF"/>
                </a:solidFill>
                <a:latin typeface="Calibri"/>
              </a:rPr>
              <a:t>-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weerfactor</a:t>
            </a:r>
            <a:endParaRPr sz="12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Enkel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gebruikt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als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historische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referentie</a:t>
            </a:r>
            <a:endParaRPr sz="12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Vlaams Verkeercentrum (primair)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320040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Echte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gemeten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reistijden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per 5-min slot</a:t>
            </a:r>
          </a:p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Maandgemiddelde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06:00–09:55</a:t>
            </a:r>
          </a:p>
        </p:txBody>
      </p:sp>
      <p:pic>
        <p:nvPicPr>
          <p:cNvPr id="11" name="Picture 10" descr="plot_car_trave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48840"/>
            <a:ext cx="7863840" cy="4023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6172200"/>
            <a:ext cx="347472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23620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car_vc_est_min = primaire voorspeldoel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Weerrisicoscore per Maand ×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lot_weather_risk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SAMENGESTELDE RISICOSCORE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regen ≥ 2 mm  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wind ≥ 45 km/h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vorst ≤ 0°C  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sneeuw &gt; 0 cm  → +3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vochtig ≥ 97%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─────────────────────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Totaal: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5029200"/>
            <a:ext cx="39319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206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Jan–feb en nov–dec = hoogste risico.
Weekdag heeft GEEN systematisch hoger weerrisico.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Weekdag- &amp; Weerfactoren — Afgeleid uit Historische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38912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Methode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Weekdagfactoren ← Infrabel gemiddelde aankomstvertraging per dag (1 359 echte ritten)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Verschuif-normaliseer zodat gemiddelde = 1,0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Weerfactoren ← VC seizoensdemontage (53 maanden) + Infrabel dagdata als fallback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Auto-gevoeligheid × 2,0 t.o.v. trein (wegoppervlak vs. spoor)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Monotoniciteitsbewaking per weergroep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754880"/>
            <a:ext cx="43891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4892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Sleutelbevinding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257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Legacy TomTom-factoren hadden dinsdag als drukste dag. Echte Infrabel-data toont maandag + donderdag als drukste, woensdag als rustigst.</a:t>
            </a:r>
          </a:p>
        </p:txBody>
      </p:sp>
      <p:pic>
        <p:nvPicPr>
          <p:cNvPr id="10" name="Picture 9" descr="plot_factor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097280"/>
            <a:ext cx="69037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 Pipeline — Van Bron tot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1920240" cy="82296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Open-Meteo
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6032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iRail / Infrabel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Vlaams VC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34440"/>
            <a:ext cx="1920240" cy="82296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234440"/>
            <a:ext cx="1920240" cy="82296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holidays
pkg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A0"/>
                </a:solidFill>
                <a:latin typeface="Calibri"/>
              </a:rPr>
              <a:t>↓  build_combined_df()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834640"/>
            <a:ext cx="7498079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286000" y="2834640"/>
            <a:ext cx="7498079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77440" y="29260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combined_workdays_features.csv  —  1 rij per Belgische werkdag, 2021 → heden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AFGELEIDE KOLOMMEN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weather_risk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0–9 samengestelde risicoscore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936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car_vc_est_min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VC-basis × weekdag × weerFactor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car_est_min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OSRM × weekdag × weerFactor (ref)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car_faster_than_train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binary target: 1 als auto sneller + 10 min buffer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Machine Learning — Aanpak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566160" cy="64008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DC3"/>
                </a:solidFill>
                <a:latin typeface="Calibri"/>
              </a:rPr>
              <a:t>Model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Lineaire
Regressie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Eenvoudigste model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Referentielijn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Interpreteerbare coëfficiënten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291840" cy="36576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B9DC3"/>
                </a:solidFill>
                <a:latin typeface="Calibri"/>
              </a:rPr>
              <a:t>Baseline — wat is de auto-reistijd?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56616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Regressor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300 beslisbomen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Niet-lineaire verbanden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Wisselwerking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846320"/>
            <a:ext cx="3291840" cy="36576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C8A0"/>
                </a:solidFill>
                <a:latin typeface="Calibri"/>
              </a:rPr>
              <a:t>Verbeterd — exactere reistijdschatting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5661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9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Model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Binary uitvoer: auto of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class_weight='balanced'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Geeft ook zekerheids-%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4846320"/>
            <a:ext cx="32918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59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35"/>
                </a:solidFill>
                <a:latin typeface="Calibri"/>
              </a:rPr>
              <a:t>Beslissing — auto of trein?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Train/test split: 80% / 20% chronologisch (geen shuffle) — tijdreeksdata mag de toekomst niet 'zien'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Features — Wat het Model Ziet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WEER (06–09H VENSTER)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rain_total   — totale neerslag (mm)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rain_peak    — maximale neerslagintensiteit (mm/u)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wind_peak    — sterkste windstoot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wind_mean    — gemiddelde windsnelheid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temp_min     — koudste 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temp_mean    — gemiddelde temperatuur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humidity_max — piekluivochtigheid (mistproxy, %)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snow_total   — totale sneeuwval (cm)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KALENDER &amp;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weekday_num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   — 0=ma … 4=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vr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month          — 1–12 (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seizoenaliteit</a:t>
            </a:r>
            <a:r>
              <a:rPr sz="1300" dirty="0">
                <a:solidFill>
                  <a:srgbClr val="FFFFFF"/>
                </a:solidFill>
                <a:latin typeface="Calibri"/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is_mon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        —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maandagopbouw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is_tue_thu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    —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piekmomenten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di/do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is_fri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        —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lichte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vrijdagochtend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is_school_holiday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zomer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(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licht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verkeer</a:t>
            </a:r>
            <a:r>
              <a:rPr sz="1300" dirty="0">
                <a:solidFill>
                  <a:srgbClr val="FFFFFF"/>
                </a:solidFill>
                <a:latin typeface="Calibri"/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weather_risk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  —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samengestelde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score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49240"/>
            <a:ext cx="11338560" cy="1143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5349240"/>
            <a:ext cx="73152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Alle 15 features zijn de avond vóór de rit beschikbaar via een weersforecast — het model is volledig operationeel in de praktijk.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Modelresultaten &amp; Evaluatie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odel_e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7772400" cy="548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66760" y="1051560"/>
            <a:ext cx="3566160" cy="24231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4964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EVALUATIEMAATSTAVEN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508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Gemiddelde afwijking in minuten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9967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5480" y="202996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Straft grote fouten zwaarder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511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5511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1.0 = perfect · 0.0 = geen beter dan gemiddelde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0723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5-fold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30723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Betrouwbaardere generalisatie-schatting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657600"/>
            <a:ext cx="356616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9640" y="374903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BUSINESS VRAGEN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11480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Hoe vaak juiste modus gekozen?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Risico te laat aankomen om 09:00?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Gem. buffer bij aankomst?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Wanneer welke modus? — Het Beslissingsmodel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2926080" cy="1005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92608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STAP 1  —  Weerrisicoscore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Bereken score 0–9 op basis van
neerslag, wind, vorst, sneeuw &amp; mist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88720"/>
            <a:ext cx="3840480" cy="1005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0480" y="1188720"/>
            <a:ext cx="3840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0" y="1261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Score &gt;= 5?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6002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Extreme weersomstandigheden —
beiden modi onbetrouwbaar of gevaarlijk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40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Calibri"/>
              </a:rPr>
              <a:t>JA 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2606040"/>
            <a:ext cx="2743200" cy="1463040"/>
          </a:xfrm>
          <a:prstGeom prst="rect">
            <a:avLst/>
          </a:prstGeom>
          <a:solidFill>
            <a:srgbClr val="36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0" y="260604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26974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35"/>
                </a:solidFill>
                <a:latin typeface="Calibri"/>
              </a:rPr>
              <a:t>THUISWERKEN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154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DC3"/>
                </a:solidFill>
                <a:latin typeface="Calibri"/>
              </a:rPr>
              <a:t>Sneeuw + iets · Zware regen + storm
IJzel + wind · Code rood KMI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1508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A0"/>
                </a:solidFill>
                <a:latin typeface="Calibri"/>
              </a:rPr>
              <a:t>NEE  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0" y="1188720"/>
            <a:ext cx="3200400" cy="1005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778240" y="1188720"/>
            <a:ext cx="320040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12618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STAP 2  —  Auto vs. Trein vergelijk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6002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Auto-reistijd (VC gecalibreerd)
vs. Treinreis (58 min) + 10 min buffer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240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Auto &lt;= 68 min  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2606040"/>
            <a:ext cx="2560320" cy="1463040"/>
          </a:xfrm>
          <a:prstGeom prst="rect">
            <a:avLst/>
          </a:prstGeom>
          <a:solidFill>
            <a:srgbClr val="0D3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15400" y="2606040"/>
            <a:ext cx="256032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40" y="26974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565C0"/>
                </a:solidFill>
                <a:latin typeface="Calibri"/>
              </a:rPr>
              <a:t>AUTO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1546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DC3"/>
                </a:solidFill>
                <a:latin typeface="Calibri"/>
              </a:rPr>
              <a:t>Woensdag (vrijwel altijd)
Dinsdag &amp; vrijdag (normaal weer)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160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Auto &gt; 68 min  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4526280"/>
            <a:ext cx="2560320" cy="1463040"/>
          </a:xfrm>
          <a:prstGeom prst="rect">
            <a:avLst/>
          </a:prstGeom>
          <a:solidFill>
            <a:srgbClr val="3E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15400" y="4526280"/>
            <a:ext cx="25603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06840" y="4617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35"/>
                </a:solidFill>
                <a:latin typeface="Calibri"/>
              </a:rPr>
              <a:t>TREIN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07492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DC3"/>
                </a:solidFill>
                <a:latin typeface="Calibri"/>
              </a:rPr>
              <a:t>Maandag &amp; donderdag (bijna altijd)
Bij zware regen of sterke wind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343400"/>
            <a:ext cx="813816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1480" y="4343400"/>
            <a:ext cx="8138160" cy="54864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4416552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RISICOSCORE BREAKDOWN (max = 9 punten)  →  drempel =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828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Regen  &gt;= 2 mm/u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482803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+2 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8280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DC3"/>
                </a:solidFill>
                <a:latin typeface="Calibri"/>
              </a:rPr>
              <a:t>matige tot zware neerslag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1755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Wind  &gt;= 45 km/h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517550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+2 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517550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DC3"/>
                </a:solidFill>
                <a:latin typeface="Calibri"/>
              </a:rPr>
              <a:t>windstoten op snelweg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229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Vorst  (temp &lt; 0°C)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552297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DC3"/>
                </a:solidFill>
                <a:latin typeface="Calibri"/>
              </a:rPr>
              <a:t>+1 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5522976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DC3"/>
                </a:solidFill>
                <a:latin typeface="Calibri"/>
              </a:rPr>
              <a:t>ijzel / berijpte wegen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704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Sneeuw  (&gt; 0 cm)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870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+3 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8704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DC3"/>
                </a:solidFill>
                <a:latin typeface="Calibri"/>
              </a:rPr>
              <a:t>sneeuw haalt drempel snel!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217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Mist  (vochtigheid ≥ 97%)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9000" y="62179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DC3"/>
                </a:solidFill>
                <a:latin typeface="Calibri"/>
              </a:rPr>
              <a:t>+1 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62179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DC3"/>
                </a:solidFill>
                <a:latin typeface="Calibri"/>
              </a:rPr>
              <a:t>dense ochtendmist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Uitgebreide Analyse — 485 Scenario's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enarios_extended_by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498079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138160" y="1097280"/>
            <a:ext cx="3749039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2104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SLEUTELBEVINDINGEN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691640"/>
            <a:ext cx="3749039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38160" y="1691640"/>
            <a:ext cx="54864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Ma &amp; Do: trein wint in 86% van scenario's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305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69 min auto vs. 68 min drempel. Elke extra vertraging = trein.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788920"/>
            <a:ext cx="3749039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2788920"/>
            <a:ext cx="54864" cy="10058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Woensdag: auto wint altijd (droog/regen)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2278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55 min auto ruim onder drempel. Enkel storm = thuiswerken.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886200"/>
            <a:ext cx="3749039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3886200"/>
            <a:ext cx="54864" cy="1005840"/>
          </a:xfrm>
          <a:prstGeom prst="rect">
            <a:avLst/>
          </a:prstGeom>
          <a:solidFill>
            <a:srgbClr val="36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63636"/>
                </a:solidFill>
                <a:latin typeface="Calibri"/>
              </a:rPr>
              <a:t>Storm (code rood) = altijd thuiswerken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32511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Wind &gt; 45 km/h + regen ≥ 2 mm → risicoscore ≥ 5 → thuiswerken.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983479"/>
            <a:ext cx="3749039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8160" y="4983479"/>
            <a:ext cx="54864" cy="10058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502919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Zware regen + wind: 73% trein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5422391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Auto-tijd stijgt door regen (+12%) → overschrijdt drempel op 3 van 5 dagen.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6080760"/>
            <a:ext cx="3749039" cy="4572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9DC3"/>
                </a:solidFill>
                <a:latin typeface="Calibri"/>
              </a:rPr>
              <a:t>predict_scenarios_extended.py  ·  5 dagen × 12 maanden × 8 weercondities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50 Scenario Voorspellingen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enario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8046720" cy="5577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41080" y="1051560"/>
            <a:ext cx="3291840" cy="5577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2396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SCENARIO DEKKING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5544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Alle weekdagen (ma–vr)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Mooi weer &amp; regen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Zwaar onweer &amp; sneeuw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IJzel (vorst zonder sneeuw)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Schoolvakantie vs. schooltijd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Feestdag (geen pendel)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Vroege zomer, late herfst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Combinaties: ma + zware regen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4937760"/>
            <a:ext cx="329184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23960" y="50292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THUISWERK-TRIGGER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3949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weather_risk &gt;= 5
(sneeuw + iets, of zware regen + storm)
→ Thuiswerken aanbevolen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Sleutelinzichten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Ma &amp; do = slechtste dagen voor autorijden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~18% en ~17% boven vrije doorstroomtijd (Infrabel) — menselijk rijgedrag, niet het weer.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Zware regen: de grootste weerimpact op autoverkeer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+12% reistijd bij piekintensiteit ≥ 5 mm/u — lichte regen en rijp slechts +3–4%.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926080"/>
            <a:ext cx="64008" cy="155448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Trein is concurrentieel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 een significant deel werkdagen is de trein sneller dan de auto (zelfs met 10 min buffer).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9596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2909596"/>
            <a:ext cx="64008" cy="155448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001036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Januari–februari &amp; nov–december = hoogste risicomaanden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39948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Beide vervoersmodi zijn tegelijk belast bij slechte weersomstandigheden.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7072" y="0"/>
            <a:ext cx="109728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Conclusie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Van ruwe data
naar slimme pendelbeslissing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77440"/>
            <a:ext cx="4572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6 databronnen geïntegreerd in 1 pipeline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1 000+ Belgische werkdagen als trainingsdata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3 ML-modellen getraind &amp; geëvalueerd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50 realistische scenario's gedemonstreerd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Operationeel: geeft vertrekadvies de avond ervoor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914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VERVOLGSTAPPEN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3716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Real-time forecast integratie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Push-notificatie 's ochtends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Uitbreiden naar andere trajecten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Live verkeersdata (DATEX 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43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Bedankt voor jullie aandacht!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1914</Words>
  <Application>Microsoft Macintosh PowerPoint</Application>
  <PresentationFormat>Custom</PresentationFormat>
  <Paragraphs>298</Paragraphs>
  <Slides>21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 Wyns</cp:lastModifiedBy>
  <cp:revision>3</cp:revision>
  <dcterms:created xsi:type="dcterms:W3CDTF">2013-01-27T09:14:16Z</dcterms:created>
  <dcterms:modified xsi:type="dcterms:W3CDTF">2026-06-18T20:09:09Z</dcterms:modified>
  <cp:category/>
</cp:coreProperties>
</file>