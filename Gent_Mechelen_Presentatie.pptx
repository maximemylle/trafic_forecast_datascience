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74E453C-559D-4418-81D3-50B8AD5A569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nl-BE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E5F0649-B58D-4B2C-BD53-905B1F82FA69}" type="slidenum">
              <a:rPr lang="nl-BE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6484620-0088-4A14-B9B3-3D4E37F4B6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DBBAF27-9462-40CD-9F5E-DD6998D2B8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887D56-5C5C-4DBC-91C6-B3694881E1B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004772-BF64-41EB-941F-06C70C6CC6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5D5E05A-594A-4C89-9064-19DB35D9B0A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53ED12D-FCA6-4C7F-B805-8AFCBC0F20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BE384D6-76AF-45BC-AE75-28390597187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FF36503-4906-4810-A6EF-32CEA1D966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3A21539-2B52-4617-8712-660E621A71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2B1583D-F62C-46AC-AF47-4A72A36D9E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ADC51D6-CAF5-4667-A1CF-8F97BAFA839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9.xml"/><Relationship Id="rId6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8686800" y="0"/>
            <a:ext cx="3657240" cy="685764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8503920" y="0"/>
            <a:ext cx="109440" cy="685764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411480" y="914400"/>
            <a:ext cx="228240" cy="22824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411480" y="128016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Gent → Mechelen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411480" y="2148840"/>
            <a:ext cx="80463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Slimmer Pendelen met Machine Learning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411480" y="2834640"/>
            <a:ext cx="5028840" cy="45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411480" y="2971800"/>
            <a:ext cx="7772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Auto · Trein · Thuiswerken — welke keuze is slim vandaag?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8823960" y="109728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TEAM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8823960" y="150876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Laure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8823960" y="189288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Jack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8823960" y="227700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Maxime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8823960" y="266076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Marc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3"/>
          <p:cNvSpPr/>
          <p:nvPr/>
        </p:nvSpPr>
        <p:spPr>
          <a:xfrm>
            <a:off x="8823960" y="338328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DATUM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4"/>
          <p:cNvSpPr/>
          <p:nvPr/>
        </p:nvSpPr>
        <p:spPr>
          <a:xfrm>
            <a:off x="8823960" y="374904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23 juni 2026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8823960" y="411480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Syntra Mechelen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411480" y="255960"/>
            <a:ext cx="11338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Wat willen we bereiken?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3"/>
          <p:cNvSpPr/>
          <p:nvPr/>
        </p:nvSpPr>
        <p:spPr>
          <a:xfrm>
            <a:off x="411480" y="109728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Elke ochtend één vraag beantwoorden: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4"/>
          <p:cNvSpPr/>
          <p:nvPr/>
        </p:nvSpPr>
        <p:spPr>
          <a:xfrm>
            <a:off x="411480" y="1508760"/>
            <a:ext cx="10972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"Hoe kom ik vandaag het best naar Mechelen?"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411480" y="2423160"/>
            <a:ext cx="3565800" cy="320004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411480" y="2423160"/>
            <a:ext cx="35658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7"/>
          <p:cNvSpPr/>
          <p:nvPr/>
        </p:nvSpPr>
        <p:spPr>
          <a:xfrm>
            <a:off x="594360" y="256032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🚗  AUTO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8"/>
          <p:cNvSpPr/>
          <p:nvPr/>
        </p:nvSpPr>
        <p:spPr>
          <a:xfrm>
            <a:off x="594360" y="3063240"/>
            <a:ext cx="3200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E17 → R1 ring → E19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via Antwerpen (~75 km)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4297680" y="2423160"/>
            <a:ext cx="3565800" cy="320004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4297680" y="2423160"/>
            <a:ext cx="3565800" cy="5436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11"/>
          <p:cNvSpPr/>
          <p:nvPr/>
        </p:nvSpPr>
        <p:spPr>
          <a:xfrm>
            <a:off x="4480560" y="256032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🚆  TREIN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12"/>
          <p:cNvSpPr/>
          <p:nvPr/>
        </p:nvSpPr>
        <p:spPr>
          <a:xfrm>
            <a:off x="4480560" y="3063240"/>
            <a:ext cx="320004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Gent-Sint-Pieters → Mechelen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~58 min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8183880" y="2423160"/>
            <a:ext cx="3565800" cy="320004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8183880" y="2423160"/>
            <a:ext cx="3565800" cy="5436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Box 15"/>
          <p:cNvSpPr/>
          <p:nvPr/>
        </p:nvSpPr>
        <p:spPr>
          <a:xfrm>
            <a:off x="8366760" y="2560320"/>
            <a:ext cx="3200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112D4E"/>
                </a:solidFill>
                <a:effectLst/>
                <a:uFillTx/>
                <a:latin typeface="Calibri"/>
              </a:rPr>
              <a:t>🏠  THUISWERKEN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6"/>
          <p:cNvSpPr/>
          <p:nvPr/>
        </p:nvSpPr>
        <p:spPr>
          <a:xfrm>
            <a:off x="8366760" y="3063240"/>
            <a:ext cx="32000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Wanneer geen enkele modus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betrouwbaar genoeg 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Rectangle 17"/>
          <p:cNvSpPr/>
          <p:nvPr/>
        </p:nvSpPr>
        <p:spPr>
          <a:xfrm>
            <a:off x="411480" y="5806440"/>
            <a:ext cx="11338200" cy="68544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548640" y="589788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📅  Scope: Belgische werkdagen van januari 2021 tot heden  ·  Data start in 2021 om COVID-lockdown (2020) te vermijden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40"/>
          <p:cNvSpPr/>
          <p:nvPr/>
        </p:nvSpPr>
        <p:spPr>
          <a:xfrm>
            <a:off x="822960" y="5687640"/>
            <a:ext cx="10515240" cy="3636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TextBox 1"/>
          <p:cNvSpPr/>
          <p:nvPr/>
        </p:nvSpPr>
        <p:spPr>
          <a:xfrm>
            <a:off x="411480" y="255960"/>
            <a:ext cx="11338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Team &amp; Taakverdeling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Rectangle 3"/>
          <p:cNvSpPr/>
          <p:nvPr/>
        </p:nvSpPr>
        <p:spPr>
          <a:xfrm>
            <a:off x="411480" y="1188720"/>
            <a:ext cx="2742840" cy="384012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Rectangle 4"/>
          <p:cNvSpPr/>
          <p:nvPr/>
        </p:nvSpPr>
        <p:spPr>
          <a:xfrm>
            <a:off x="411480" y="1188720"/>
            <a:ext cx="2742840" cy="7272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Rectangle 5"/>
          <p:cNvSpPr/>
          <p:nvPr/>
        </p:nvSpPr>
        <p:spPr>
          <a:xfrm>
            <a:off x="502920" y="1371600"/>
            <a:ext cx="319680" cy="31968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6"/>
          <p:cNvSpPr/>
          <p:nvPr/>
        </p:nvSpPr>
        <p:spPr>
          <a:xfrm>
            <a:off x="594360" y="141732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LAURE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7"/>
          <p:cNvSpPr/>
          <p:nvPr/>
        </p:nvSpPr>
        <p:spPr>
          <a:xfrm>
            <a:off x="594360" y="18745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Verkeersdata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8"/>
          <p:cNvSpPr/>
          <p:nvPr/>
        </p:nvSpPr>
        <p:spPr>
          <a:xfrm>
            <a:off x="594360" y="228600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Vlaams Verkeercentrum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(reistijd E17→R1→E19)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 9"/>
          <p:cNvSpPr/>
          <p:nvPr/>
        </p:nvSpPr>
        <p:spPr>
          <a:xfrm>
            <a:off x="3337560" y="1188720"/>
            <a:ext cx="2742840" cy="384012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ectangle 10"/>
          <p:cNvSpPr/>
          <p:nvPr/>
        </p:nvSpPr>
        <p:spPr>
          <a:xfrm>
            <a:off x="3337560" y="1188720"/>
            <a:ext cx="2742840" cy="7272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ectangle 11"/>
          <p:cNvSpPr/>
          <p:nvPr/>
        </p:nvSpPr>
        <p:spPr>
          <a:xfrm>
            <a:off x="3429000" y="1371600"/>
            <a:ext cx="319680" cy="31968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2"/>
          <p:cNvSpPr/>
          <p:nvPr/>
        </p:nvSpPr>
        <p:spPr>
          <a:xfrm>
            <a:off x="3520440" y="141732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JACK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13"/>
          <p:cNvSpPr/>
          <p:nvPr/>
        </p:nvSpPr>
        <p:spPr>
          <a:xfrm>
            <a:off x="3520440" y="18745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Treindata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14"/>
          <p:cNvSpPr/>
          <p:nvPr/>
        </p:nvSpPr>
        <p:spPr>
          <a:xfrm>
            <a:off x="3520440" y="228600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Infrabel punctualiteits-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geschiedenis 2021–2026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Rectangle 15"/>
          <p:cNvSpPr/>
          <p:nvPr/>
        </p:nvSpPr>
        <p:spPr>
          <a:xfrm>
            <a:off x="6263640" y="1188720"/>
            <a:ext cx="2742840" cy="384012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ectangle 16"/>
          <p:cNvSpPr/>
          <p:nvPr/>
        </p:nvSpPr>
        <p:spPr>
          <a:xfrm>
            <a:off x="6263640" y="1188720"/>
            <a:ext cx="2742840" cy="72720"/>
          </a:xfrm>
          <a:prstGeom prst="rect">
            <a:avLst/>
          </a:prstGeom>
          <a:solidFill>
            <a:srgbClr val="A060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Rectangle 17"/>
          <p:cNvSpPr/>
          <p:nvPr/>
        </p:nvSpPr>
        <p:spPr>
          <a:xfrm>
            <a:off x="6355080" y="1371600"/>
            <a:ext cx="319680" cy="319680"/>
          </a:xfrm>
          <a:prstGeom prst="rect">
            <a:avLst/>
          </a:prstGeom>
          <a:solidFill>
            <a:srgbClr val="A060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18"/>
          <p:cNvSpPr/>
          <p:nvPr/>
        </p:nvSpPr>
        <p:spPr>
          <a:xfrm>
            <a:off x="6446520" y="141732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MAXIME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9"/>
          <p:cNvSpPr/>
          <p:nvPr/>
        </p:nvSpPr>
        <p:spPr>
          <a:xfrm>
            <a:off x="6446520" y="18745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A060FF"/>
                </a:solidFill>
                <a:effectLst/>
                <a:uFillTx/>
                <a:latin typeface="Calibri"/>
              </a:rPr>
              <a:t>Weerdata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20"/>
          <p:cNvSpPr/>
          <p:nvPr/>
        </p:nvSpPr>
        <p:spPr>
          <a:xfrm>
            <a:off x="6446520" y="228600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Open-Meteo Archive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(uurlijks, 2021–heden)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21"/>
          <p:cNvSpPr/>
          <p:nvPr/>
        </p:nvSpPr>
        <p:spPr>
          <a:xfrm>
            <a:off x="9189720" y="1188720"/>
            <a:ext cx="2742840" cy="384012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Rectangle 22"/>
          <p:cNvSpPr/>
          <p:nvPr/>
        </p:nvSpPr>
        <p:spPr>
          <a:xfrm>
            <a:off x="9189720" y="1188720"/>
            <a:ext cx="2742840" cy="72720"/>
          </a:xfrm>
          <a:prstGeom prst="rect">
            <a:avLst/>
          </a:prstGeom>
          <a:solidFill>
            <a:srgbClr val="00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Rectangle 23"/>
          <p:cNvSpPr/>
          <p:nvPr/>
        </p:nvSpPr>
        <p:spPr>
          <a:xfrm>
            <a:off x="9281160" y="1371600"/>
            <a:ext cx="319680" cy="319680"/>
          </a:xfrm>
          <a:prstGeom prst="rect">
            <a:avLst/>
          </a:prstGeom>
          <a:solidFill>
            <a:srgbClr val="00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24"/>
          <p:cNvSpPr/>
          <p:nvPr/>
        </p:nvSpPr>
        <p:spPr>
          <a:xfrm>
            <a:off x="9372600" y="1417320"/>
            <a:ext cx="2468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MARC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25"/>
          <p:cNvSpPr/>
          <p:nvPr/>
        </p:nvSpPr>
        <p:spPr>
          <a:xfrm>
            <a:off x="9372600" y="18745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99FF"/>
                </a:solidFill>
                <a:effectLst/>
                <a:uFillTx/>
                <a:latin typeface="Calibri"/>
              </a:rPr>
              <a:t>Coördinatie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26"/>
          <p:cNvSpPr/>
          <p:nvPr/>
        </p:nvSpPr>
        <p:spPr>
          <a:xfrm>
            <a:off x="9372600" y="2286000"/>
            <a:ext cx="24685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Mockup project + pipeline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structuur &amp; opzet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27"/>
          <p:cNvSpPr/>
          <p:nvPr/>
        </p:nvSpPr>
        <p:spPr>
          <a:xfrm>
            <a:off x="411480" y="525780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TIJDLIJN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28"/>
          <p:cNvSpPr/>
          <p:nvPr/>
        </p:nvSpPr>
        <p:spPr>
          <a:xfrm>
            <a:off x="914400" y="5623560"/>
            <a:ext cx="136800" cy="13680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29"/>
          <p:cNvSpPr/>
          <p:nvPr/>
        </p:nvSpPr>
        <p:spPr>
          <a:xfrm>
            <a:off x="1143000" y="5559480"/>
            <a:ext cx="137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02/06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30"/>
          <p:cNvSpPr/>
          <p:nvPr/>
        </p:nvSpPr>
        <p:spPr>
          <a:xfrm>
            <a:off x="1143000" y="585216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1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Taakver-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deling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Rectangle 31"/>
          <p:cNvSpPr/>
          <p:nvPr/>
        </p:nvSpPr>
        <p:spPr>
          <a:xfrm>
            <a:off x="3657600" y="5623560"/>
            <a:ext cx="136800" cy="13680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32"/>
          <p:cNvSpPr/>
          <p:nvPr/>
        </p:nvSpPr>
        <p:spPr>
          <a:xfrm>
            <a:off x="3886200" y="5559480"/>
            <a:ext cx="137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09/06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33"/>
          <p:cNvSpPr/>
          <p:nvPr/>
        </p:nvSpPr>
        <p:spPr>
          <a:xfrm>
            <a:off x="3886200" y="585216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1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Teams-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vergadering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Rectangle 34"/>
          <p:cNvSpPr/>
          <p:nvPr/>
        </p:nvSpPr>
        <p:spPr>
          <a:xfrm>
            <a:off x="6400800" y="5623560"/>
            <a:ext cx="136800" cy="13680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35"/>
          <p:cNvSpPr/>
          <p:nvPr/>
        </p:nvSpPr>
        <p:spPr>
          <a:xfrm>
            <a:off x="6629400" y="5559480"/>
            <a:ext cx="137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16/06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36"/>
          <p:cNvSpPr/>
          <p:nvPr/>
        </p:nvSpPr>
        <p:spPr>
          <a:xfrm>
            <a:off x="6629400" y="585216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1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Alignering +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presentatie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37"/>
          <p:cNvSpPr/>
          <p:nvPr/>
        </p:nvSpPr>
        <p:spPr>
          <a:xfrm>
            <a:off x="9144000" y="5623560"/>
            <a:ext cx="136800" cy="13680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38"/>
          <p:cNvSpPr/>
          <p:nvPr/>
        </p:nvSpPr>
        <p:spPr>
          <a:xfrm>
            <a:off x="9372600" y="5559480"/>
            <a:ext cx="137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23/06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39"/>
          <p:cNvSpPr/>
          <p:nvPr/>
        </p:nvSpPr>
        <p:spPr>
          <a:xfrm>
            <a:off x="9372600" y="5852160"/>
            <a:ext cx="1371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1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Presentatie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Syntra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Box 1"/>
          <p:cNvSpPr/>
          <p:nvPr/>
        </p:nvSpPr>
        <p:spPr>
          <a:xfrm>
            <a:off x="411480" y="255960"/>
            <a:ext cx="11338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6 Databronnen — </a:t>
            </a: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Overzicht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Rectangle 3"/>
          <p:cNvSpPr/>
          <p:nvPr/>
        </p:nvSpPr>
        <p:spPr>
          <a:xfrm>
            <a:off x="411480" y="1143000"/>
            <a:ext cx="3657240" cy="233136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Rectangle 4"/>
          <p:cNvSpPr/>
          <p:nvPr/>
        </p:nvSpPr>
        <p:spPr>
          <a:xfrm>
            <a:off x="411480" y="1143000"/>
            <a:ext cx="502560" cy="233136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TextBox 5"/>
          <p:cNvSpPr/>
          <p:nvPr/>
        </p:nvSpPr>
        <p:spPr>
          <a:xfrm>
            <a:off x="475560" y="123444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6"/>
          <p:cNvSpPr/>
          <p:nvPr/>
        </p:nvSpPr>
        <p:spPr>
          <a:xfrm>
            <a:off x="1005840" y="1234440"/>
            <a:ext cx="2925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Open-Meteo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Archief API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7"/>
          <p:cNvSpPr/>
          <p:nvPr/>
        </p:nvSpPr>
        <p:spPr>
          <a:xfrm>
            <a:off x="1005840" y="192024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Weerdata uurlijks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2021 → heden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8"/>
          <p:cNvSpPr/>
          <p:nvPr/>
        </p:nvSpPr>
        <p:spPr>
          <a:xfrm>
            <a:off x="1005840" y="2788920"/>
            <a:ext cx="2925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Gratis · geen API-sleutel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Rectangle 9"/>
          <p:cNvSpPr/>
          <p:nvPr/>
        </p:nvSpPr>
        <p:spPr>
          <a:xfrm>
            <a:off x="4297680" y="1143000"/>
            <a:ext cx="3657240" cy="233136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Rectangle 10"/>
          <p:cNvSpPr/>
          <p:nvPr/>
        </p:nvSpPr>
        <p:spPr>
          <a:xfrm>
            <a:off x="4297680" y="1143000"/>
            <a:ext cx="502560" cy="233136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11"/>
          <p:cNvSpPr/>
          <p:nvPr/>
        </p:nvSpPr>
        <p:spPr>
          <a:xfrm>
            <a:off x="4361760" y="123444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2"/>
          <p:cNvSpPr/>
          <p:nvPr/>
        </p:nvSpPr>
        <p:spPr>
          <a:xfrm>
            <a:off x="4892040" y="1234440"/>
            <a:ext cx="2925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holidays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(Python pkg)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3"/>
          <p:cNvSpPr/>
          <p:nvPr/>
        </p:nvSpPr>
        <p:spPr>
          <a:xfrm>
            <a:off x="4892040" y="192024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Belgische feestdagen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2021 – 2028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14"/>
          <p:cNvSpPr/>
          <p:nvPr/>
        </p:nvSpPr>
        <p:spPr>
          <a:xfrm>
            <a:off x="4892040" y="2788920"/>
            <a:ext cx="2925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Ingebouwde dataset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15"/>
          <p:cNvSpPr/>
          <p:nvPr/>
        </p:nvSpPr>
        <p:spPr>
          <a:xfrm>
            <a:off x="8183880" y="1143000"/>
            <a:ext cx="3657240" cy="233136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Rectangle 16"/>
          <p:cNvSpPr/>
          <p:nvPr/>
        </p:nvSpPr>
        <p:spPr>
          <a:xfrm>
            <a:off x="8183880" y="1143000"/>
            <a:ext cx="502560" cy="2331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17"/>
          <p:cNvSpPr/>
          <p:nvPr/>
        </p:nvSpPr>
        <p:spPr>
          <a:xfrm>
            <a:off x="8247960" y="123444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8"/>
          <p:cNvSpPr/>
          <p:nvPr/>
        </p:nvSpPr>
        <p:spPr>
          <a:xfrm>
            <a:off x="8778240" y="1234440"/>
            <a:ext cx="2925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iRail API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19"/>
          <p:cNvSpPr/>
          <p:nvPr/>
        </p:nvSpPr>
        <p:spPr>
          <a:xfrm>
            <a:off x="8778240" y="192024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NMBS-verbindingen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(schema, fallback)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20"/>
          <p:cNvSpPr/>
          <p:nvPr/>
        </p:nvSpPr>
        <p:spPr>
          <a:xfrm>
            <a:off x="8778240" y="2788920"/>
            <a:ext cx="2925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Gratis · open source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Rectangle 21"/>
          <p:cNvSpPr/>
          <p:nvPr/>
        </p:nvSpPr>
        <p:spPr>
          <a:xfrm>
            <a:off x="411480" y="3749040"/>
            <a:ext cx="3657240" cy="233136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Rectangle 22"/>
          <p:cNvSpPr/>
          <p:nvPr/>
        </p:nvSpPr>
        <p:spPr>
          <a:xfrm>
            <a:off x="411480" y="3749040"/>
            <a:ext cx="502560" cy="2331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23"/>
          <p:cNvSpPr/>
          <p:nvPr/>
        </p:nvSpPr>
        <p:spPr>
          <a:xfrm>
            <a:off x="475560" y="384048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#4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24"/>
          <p:cNvSpPr/>
          <p:nvPr/>
        </p:nvSpPr>
        <p:spPr>
          <a:xfrm>
            <a:off x="1005840" y="3840480"/>
            <a:ext cx="2925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Infrabel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5"/>
          <p:cNvSpPr/>
          <p:nvPr/>
        </p:nvSpPr>
        <p:spPr>
          <a:xfrm>
            <a:off x="1005840" y="452628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Echte treinpunctualiteit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48 maanden CSV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26"/>
          <p:cNvSpPr/>
          <p:nvPr/>
        </p:nvSpPr>
        <p:spPr>
          <a:xfrm>
            <a:off x="1005840" y="5394960"/>
            <a:ext cx="2925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data.gov.be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Rectangle 27"/>
          <p:cNvSpPr/>
          <p:nvPr/>
        </p:nvSpPr>
        <p:spPr>
          <a:xfrm>
            <a:off x="4297680" y="3749040"/>
            <a:ext cx="3657240" cy="233136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Rectangle 28"/>
          <p:cNvSpPr/>
          <p:nvPr/>
        </p:nvSpPr>
        <p:spPr>
          <a:xfrm>
            <a:off x="4297680" y="3749040"/>
            <a:ext cx="502560" cy="2331360"/>
          </a:xfrm>
          <a:prstGeom prst="rect">
            <a:avLst/>
          </a:prstGeom>
          <a:solidFill>
            <a:srgbClr val="A060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8" name="TextBox 29"/>
          <p:cNvSpPr/>
          <p:nvPr/>
        </p:nvSpPr>
        <p:spPr>
          <a:xfrm>
            <a:off x="4361760" y="384048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#5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30"/>
          <p:cNvSpPr/>
          <p:nvPr/>
        </p:nvSpPr>
        <p:spPr>
          <a:xfrm>
            <a:off x="4892040" y="3840480"/>
            <a:ext cx="2925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OSRM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31"/>
          <p:cNvSpPr/>
          <p:nvPr/>
        </p:nvSpPr>
        <p:spPr>
          <a:xfrm>
            <a:off x="4892040" y="452628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Vrije doorstroomtijd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auto (referentie)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32"/>
          <p:cNvSpPr/>
          <p:nvPr/>
        </p:nvSpPr>
        <p:spPr>
          <a:xfrm>
            <a:off x="4892040" y="5394960"/>
            <a:ext cx="2925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060FF"/>
                </a:solidFill>
                <a:effectLst/>
                <a:uFillTx/>
                <a:latin typeface="Calibri"/>
              </a:rPr>
              <a:t>OpenStreetMap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Rectangle 33"/>
          <p:cNvSpPr/>
          <p:nvPr/>
        </p:nvSpPr>
        <p:spPr>
          <a:xfrm>
            <a:off x="8183880" y="3749040"/>
            <a:ext cx="3657240" cy="233136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Rectangle 34"/>
          <p:cNvSpPr/>
          <p:nvPr/>
        </p:nvSpPr>
        <p:spPr>
          <a:xfrm>
            <a:off x="8183880" y="3749040"/>
            <a:ext cx="502560" cy="2331360"/>
          </a:xfrm>
          <a:prstGeom prst="rect">
            <a:avLst/>
          </a:prstGeom>
          <a:solidFill>
            <a:srgbClr val="00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Box 35"/>
          <p:cNvSpPr/>
          <p:nvPr/>
        </p:nvSpPr>
        <p:spPr>
          <a:xfrm>
            <a:off x="8247960" y="3840480"/>
            <a:ext cx="3654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#6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36"/>
          <p:cNvSpPr/>
          <p:nvPr/>
        </p:nvSpPr>
        <p:spPr>
          <a:xfrm>
            <a:off x="8778240" y="3840480"/>
            <a:ext cx="2925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Vlaams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Verkeercentrum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37"/>
          <p:cNvSpPr/>
          <p:nvPr/>
        </p:nvSpPr>
        <p:spPr>
          <a:xfrm>
            <a:off x="8778240" y="4526280"/>
            <a:ext cx="29257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Gemeten reistijden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E17 → R1 → E19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38"/>
          <p:cNvSpPr/>
          <p:nvPr/>
        </p:nvSpPr>
        <p:spPr>
          <a:xfrm>
            <a:off x="8778240" y="5394960"/>
            <a:ext cx="29257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000" b="0" i="1" u="none" strike="noStrike">
                <a:solidFill>
                  <a:srgbClr val="0099FF"/>
                </a:solidFill>
                <a:effectLst/>
                <a:uFillTx/>
                <a:latin typeface="Calibri"/>
              </a:rPr>
              <a:t>indicatoren.verkeers-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0099FF"/>
                </a:solidFill>
                <a:effectLst/>
                <a:uFillTx/>
                <a:latin typeface="Calibri"/>
              </a:rPr>
              <a:t>centrum.be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"/>
          <p:cNvSpPr/>
          <p:nvPr/>
        </p:nvSpPr>
        <p:spPr>
          <a:xfrm>
            <a:off x="411480" y="255960"/>
            <a:ext cx="11338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Databron 1: Weerdata — Open-Meteo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Rectangle 3"/>
          <p:cNvSpPr/>
          <p:nvPr/>
        </p:nvSpPr>
        <p:spPr>
          <a:xfrm>
            <a:off x="411480" y="1097280"/>
            <a:ext cx="4571640" cy="530316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TextBox 4"/>
          <p:cNvSpPr/>
          <p:nvPr/>
        </p:nvSpPr>
        <p:spPr>
          <a:xfrm>
            <a:off x="594360" y="128016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Gratis API, geen registratie nodig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Uurlijkse data terug tot 1940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Locatie: Mechelen (aankomststad)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Venster: 06:00–09:00 (pendeltijd)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Samengevat per dag: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5"/>
          <p:cNvSpPr/>
          <p:nvPr/>
        </p:nvSpPr>
        <p:spPr>
          <a:xfrm>
            <a:off x="685800" y="352044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7C59F"/>
                </a:solidFill>
                <a:effectLst/>
                <a:uFillTx/>
                <a:latin typeface="Calibri"/>
              </a:rPr>
              <a:t>  rain_total / rain_peak  (neerslag)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6"/>
          <p:cNvSpPr/>
          <p:nvPr/>
        </p:nvSpPr>
        <p:spPr>
          <a:xfrm>
            <a:off x="685800" y="386784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7C59F"/>
                </a:solidFill>
                <a:effectLst/>
                <a:uFillTx/>
                <a:latin typeface="Calibri"/>
              </a:rPr>
              <a:t>  wind_peak / wind_mean   (wind)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7"/>
          <p:cNvSpPr/>
          <p:nvPr/>
        </p:nvSpPr>
        <p:spPr>
          <a:xfrm>
            <a:off x="685800" y="421524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7C59F"/>
                </a:solidFill>
                <a:effectLst/>
                <a:uFillTx/>
                <a:latin typeface="Calibri"/>
              </a:rPr>
              <a:t>  temp_min / temp_mean    (temperatuur)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8"/>
          <p:cNvSpPr/>
          <p:nvPr/>
        </p:nvSpPr>
        <p:spPr>
          <a:xfrm>
            <a:off x="685800" y="456300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7C59F"/>
                </a:solidFill>
                <a:effectLst/>
                <a:uFillTx/>
                <a:latin typeface="Calibri"/>
              </a:rPr>
              <a:t>  humidity_max            (mist-proxy)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9"/>
          <p:cNvSpPr/>
          <p:nvPr/>
        </p:nvSpPr>
        <p:spPr>
          <a:xfrm>
            <a:off x="685800" y="491040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7C59F"/>
                </a:solidFill>
                <a:effectLst/>
                <a:uFillTx/>
                <a:latin typeface="Calibri"/>
              </a:rPr>
              <a:t>  snow_total              (sneeuwval)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Picture 12" descr="plot_weather_overview.png"/>
          <p:cNvPicPr/>
          <p:nvPr/>
        </p:nvPicPr>
        <p:blipFill>
          <a:blip r:embed="rId1"/>
          <a:stretch/>
        </p:blipFill>
        <p:spPr>
          <a:xfrm>
            <a:off x="5166360" y="1097280"/>
            <a:ext cx="6766200" cy="5303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TextBox 1"/>
          <p:cNvSpPr/>
          <p:nvPr/>
        </p:nvSpPr>
        <p:spPr>
          <a:xfrm>
            <a:off x="411480" y="255960"/>
            <a:ext cx="11338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Weer tijdens het Pendelvenster (06:00–09:00)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90" name="Picture 3" descr="plot_commute_window_weather.png"/>
          <p:cNvPicPr/>
          <p:nvPr/>
        </p:nvPicPr>
        <p:blipFill>
          <a:blip r:embed="rId1"/>
          <a:stretch/>
        </p:blipFill>
        <p:spPr>
          <a:xfrm>
            <a:off x="411480" y="1097280"/>
            <a:ext cx="7314840" cy="493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" name="Rectangle 4"/>
          <p:cNvSpPr/>
          <p:nvPr/>
        </p:nvSpPr>
        <p:spPr>
          <a:xfrm>
            <a:off x="7955280" y="1097280"/>
            <a:ext cx="3931560" cy="493740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Box 5"/>
          <p:cNvSpPr/>
          <p:nvPr/>
        </p:nvSpPr>
        <p:spPr>
          <a:xfrm>
            <a:off x="8138160" y="25048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INZICHT 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6"/>
          <p:cNvSpPr/>
          <p:nvPr/>
        </p:nvSpPr>
        <p:spPr>
          <a:xfrm>
            <a:off x="8138160" y="3073680"/>
            <a:ext cx="365724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nl-NL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Raar maar waar, het is slecht weer in de herfst en winter.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Box 1"/>
          <p:cNvSpPr/>
          <p:nvPr/>
        </p:nvSpPr>
        <p:spPr>
          <a:xfrm>
            <a:off x="411480" y="255960"/>
            <a:ext cx="11338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Weer tijdens het Pendelvenster (06:00–09:00)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Box 5"/>
          <p:cNvSpPr/>
          <p:nvPr/>
        </p:nvSpPr>
        <p:spPr>
          <a:xfrm>
            <a:off x="8138160" y="118872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INZICHT 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 7"/>
          <p:cNvSpPr/>
          <p:nvPr/>
        </p:nvSpPr>
        <p:spPr>
          <a:xfrm>
            <a:off x="393120" y="4264920"/>
            <a:ext cx="4172400" cy="219420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Box 8"/>
          <p:cNvSpPr/>
          <p:nvPr/>
        </p:nvSpPr>
        <p:spPr>
          <a:xfrm>
            <a:off x="650520" y="453060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INZICHT 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9"/>
          <p:cNvSpPr/>
          <p:nvPr/>
        </p:nvSpPr>
        <p:spPr>
          <a:xfrm>
            <a:off x="650520" y="5115960"/>
            <a:ext cx="365724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nl-NL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Nog opvallender, het weer hangt niet af van de dag van de week!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0" name="Picture 10" descr="plot_weather_by_weekday.png"/>
          <p:cNvPicPr/>
          <p:nvPr/>
        </p:nvPicPr>
        <p:blipFill>
          <a:blip r:embed="rId1"/>
          <a:stretch/>
        </p:blipFill>
        <p:spPr>
          <a:xfrm>
            <a:off x="411480" y="1216440"/>
            <a:ext cx="10994040" cy="2812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Box 1"/>
          <p:cNvSpPr/>
          <p:nvPr/>
        </p:nvSpPr>
        <p:spPr>
          <a:xfrm>
            <a:off x="411480" y="255960"/>
            <a:ext cx="11338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Databron 2: Belgische Werkdagenkalender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Rectangle 3"/>
          <p:cNvSpPr/>
          <p:nvPr/>
        </p:nvSpPr>
        <p:spPr>
          <a:xfrm>
            <a:off x="411480" y="2239200"/>
            <a:ext cx="3809520" cy="297324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548640" y="2242440"/>
            <a:ext cx="4571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holidays Python Package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5"/>
          <p:cNvSpPr/>
          <p:nvPr/>
        </p:nvSpPr>
        <p:spPr>
          <a:xfrm>
            <a:off x="502920" y="3075840"/>
            <a:ext cx="4480200" cy="11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2021 – 2028 (ook toekomst voor forecasts)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is_workday: ma–vr EN geen feestdag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is_school_holiday: juli &amp; augustus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Seizoen: meteorologisch (DJF/MAM/JJA/SON)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Rectangle 8"/>
          <p:cNvSpPr/>
          <p:nvPr/>
        </p:nvSpPr>
        <p:spPr>
          <a:xfrm>
            <a:off x="411480" y="5384880"/>
            <a:ext cx="3809520" cy="68544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Box 9"/>
          <p:cNvSpPr/>
          <p:nvPr/>
        </p:nvSpPr>
        <p:spPr>
          <a:xfrm>
            <a:off x="502920" y="5605200"/>
            <a:ext cx="466308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D1B2A"/>
                </a:solidFill>
                <a:effectLst/>
                <a:uFillTx/>
                <a:latin typeface="Calibri"/>
              </a:rPr>
              <a:t>💡  Mei </a:t>
            </a:r>
            <a:r>
              <a:rPr lang="nl-NL" sz="1200" b="1" u="none" strike="noStrike">
                <a:solidFill>
                  <a:srgbClr val="0D1B2A"/>
                </a:solidFill>
                <a:effectLst/>
                <a:uFillTx/>
                <a:latin typeface="Calibri"/>
              </a:rPr>
              <a:t>heeft de meeste feestdagen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8" name="Afbeelding 12"/>
          <p:cNvPicPr/>
          <p:nvPr/>
        </p:nvPicPr>
        <p:blipFill>
          <a:blip r:embed="rId1"/>
          <a:stretch/>
        </p:blipFill>
        <p:spPr>
          <a:xfrm>
            <a:off x="4303800" y="2239200"/>
            <a:ext cx="7734600" cy="2973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3"/>
          <p:cNvSpPr/>
          <p:nvPr/>
        </p:nvSpPr>
        <p:spPr>
          <a:xfrm>
            <a:off x="8244360" y="4167000"/>
            <a:ext cx="3669840" cy="220608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Rectangle 3"/>
          <p:cNvSpPr/>
          <p:nvPr/>
        </p:nvSpPr>
        <p:spPr>
          <a:xfrm>
            <a:off x="2832480" y="4194360"/>
            <a:ext cx="5247360" cy="220608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1"/>
          <p:cNvSpPr/>
          <p:nvPr/>
        </p:nvSpPr>
        <p:spPr>
          <a:xfrm>
            <a:off x="411480" y="255960"/>
            <a:ext cx="1133820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Databron </a:t>
            </a:r>
            <a:r>
              <a:rPr lang="nl-NL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3 &amp; </a:t>
            </a: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4: Echte Treindata — Infrabel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Rectangle 3"/>
          <p:cNvSpPr/>
          <p:nvPr/>
        </p:nvSpPr>
        <p:spPr>
          <a:xfrm>
            <a:off x="411480" y="4194360"/>
            <a:ext cx="2256120" cy="220608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4"/>
          <p:cNvSpPr/>
          <p:nvPr/>
        </p:nvSpPr>
        <p:spPr>
          <a:xfrm>
            <a:off x="2942280" y="424404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Waarom Infrabel en niet iRail?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5"/>
          <p:cNvSpPr/>
          <p:nvPr/>
        </p:nvSpPr>
        <p:spPr>
          <a:xfrm>
            <a:off x="2971800" y="4745160"/>
            <a:ext cx="47545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3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iRail = real-time/toekomst — geen meerjarige vertragingshistorie.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Infrabel publiceert de échte aankomst- en vertrektijden per stop, per trein, elke dag.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6"/>
          <p:cNvSpPr/>
          <p:nvPr/>
        </p:nvSpPr>
        <p:spPr>
          <a:xfrm>
            <a:off x="8456760" y="4572000"/>
            <a:ext cx="4754520" cy="10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</a:t>
            </a:r>
            <a:r>
              <a:rPr lang="nl-NL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Data in CSV per maand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(jan 2021 – apr 2026)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Filter: vertrekken uit Gent-Sint-Pieters 06–09h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Join: aankomst in Mechelen op zelfde trein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Dagelijks geaggregeerd (mediaan per dag)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7"/>
          <p:cNvSpPr/>
          <p:nvPr/>
        </p:nvSpPr>
        <p:spPr>
          <a:xfrm>
            <a:off x="511560" y="4236480"/>
            <a:ext cx="47545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Kolommen per dag: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8"/>
          <p:cNvSpPr/>
          <p:nvPr/>
        </p:nvSpPr>
        <p:spPr>
          <a:xfrm>
            <a:off x="685800" y="460332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7C59F"/>
                </a:solidFill>
                <a:effectLst/>
                <a:uFillTx/>
                <a:latin typeface="Calibri"/>
              </a:rPr>
              <a:t>  › train_planned_journey_min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9"/>
          <p:cNvSpPr/>
          <p:nvPr/>
        </p:nvSpPr>
        <p:spPr>
          <a:xfrm>
            <a:off x="694440" y="489312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7C59F"/>
                </a:solidFill>
                <a:effectLst/>
                <a:uFillTx/>
                <a:latin typeface="Calibri"/>
              </a:rPr>
              <a:t>  › train_actual_journey_min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10"/>
          <p:cNvSpPr/>
          <p:nvPr/>
        </p:nvSpPr>
        <p:spPr>
          <a:xfrm>
            <a:off x="694440" y="522972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7C59F"/>
                </a:solidFill>
                <a:effectLst/>
                <a:uFillTx/>
                <a:latin typeface="Calibri"/>
              </a:rPr>
              <a:t>  › train_delay_arr_median_s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11"/>
          <p:cNvSpPr/>
          <p:nvPr/>
        </p:nvSpPr>
        <p:spPr>
          <a:xfrm>
            <a:off x="685800" y="556200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7C59F"/>
                </a:solidFill>
                <a:effectLst/>
                <a:uFillTx/>
                <a:latin typeface="Calibri"/>
              </a:rPr>
              <a:t>  › train_on_time_pct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12"/>
          <p:cNvSpPr/>
          <p:nvPr/>
        </p:nvSpPr>
        <p:spPr>
          <a:xfrm>
            <a:off x="704520" y="589464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7C59F"/>
                </a:solidFill>
                <a:effectLst/>
                <a:uFillTx/>
                <a:latin typeface="Calibri"/>
              </a:rPr>
              <a:t>  › train_cancelled_pct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3" name="Afbeelding 15"/>
          <p:cNvPicPr/>
          <p:nvPr/>
        </p:nvPicPr>
        <p:blipFill>
          <a:blip r:embed="rId1"/>
          <a:stretch/>
        </p:blipFill>
        <p:spPr>
          <a:xfrm>
            <a:off x="411480" y="898920"/>
            <a:ext cx="11502720" cy="3047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TextBox 1"/>
          <p:cNvSpPr/>
          <p:nvPr/>
        </p:nvSpPr>
        <p:spPr>
          <a:xfrm>
            <a:off x="411480" y="255960"/>
            <a:ext cx="1133820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Databron 5</a:t>
            </a:r>
            <a:r>
              <a:rPr lang="nl-NL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 </a:t>
            </a: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+</a:t>
            </a:r>
            <a:r>
              <a:rPr lang="nl-NL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 </a:t>
            </a: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6: Autorijdata — OSRM + Vlaams Verkeercentrum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Rectangle 3"/>
          <p:cNvSpPr/>
          <p:nvPr/>
        </p:nvSpPr>
        <p:spPr>
          <a:xfrm>
            <a:off x="411480" y="1097280"/>
            <a:ext cx="11338200" cy="91404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7" name="TextBox 4"/>
          <p:cNvSpPr/>
          <p:nvPr/>
        </p:nvSpPr>
        <p:spPr>
          <a:xfrm>
            <a:off x="548640" y="1234440"/>
            <a:ext cx="109724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Route: E17/A14 (Gent → Antwerpen)  ›  R1 buitenring  ›  E19/A1 (Antwerpen → Mechelen)  ·  ~75 km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Rectangle 5"/>
          <p:cNvSpPr/>
          <p:nvPr/>
        </p:nvSpPr>
        <p:spPr>
          <a:xfrm>
            <a:off x="411480" y="2194560"/>
            <a:ext cx="3474360" cy="393156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"/>
          <p:cNvSpPr/>
          <p:nvPr/>
        </p:nvSpPr>
        <p:spPr>
          <a:xfrm>
            <a:off x="594360" y="233172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A060FF"/>
                </a:solidFill>
                <a:effectLst/>
                <a:uFillTx/>
                <a:latin typeface="Calibri"/>
              </a:rPr>
              <a:t>OSRM (referentie)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7"/>
          <p:cNvSpPr/>
          <p:nvPr/>
        </p:nvSpPr>
        <p:spPr>
          <a:xfrm>
            <a:off x="594360" y="2520720"/>
            <a:ext cx="3200040" cy="7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Vermenigvuldigd met weekdag- en weerfactor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Enkel gebruikt als historische referentie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8"/>
          <p:cNvSpPr/>
          <p:nvPr/>
        </p:nvSpPr>
        <p:spPr>
          <a:xfrm>
            <a:off x="594360" y="420624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Vlaams Verkeercentrum (primair)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9"/>
          <p:cNvSpPr/>
          <p:nvPr/>
        </p:nvSpPr>
        <p:spPr>
          <a:xfrm>
            <a:off x="594360" y="4617720"/>
            <a:ext cx="3200040" cy="74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Echte gemeten reistijden per 5-min slot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Maandgemiddelde 06:00–09:55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3" name="Afbeelding 14"/>
          <p:cNvPicPr/>
          <p:nvPr/>
        </p:nvPicPr>
        <p:blipFill>
          <a:blip r:embed="rId1"/>
          <a:stretch/>
        </p:blipFill>
        <p:spPr>
          <a:xfrm>
            <a:off x="3977640" y="2194560"/>
            <a:ext cx="7799400" cy="3931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Box 1"/>
          <p:cNvSpPr/>
          <p:nvPr/>
        </p:nvSpPr>
        <p:spPr>
          <a:xfrm>
            <a:off x="411480" y="255960"/>
            <a:ext cx="1133820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nl-NL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Verdere verwerking: </a:t>
            </a: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Weerrisicoscore per Maand × Weekdag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Rectangle 4"/>
          <p:cNvSpPr/>
          <p:nvPr/>
        </p:nvSpPr>
        <p:spPr>
          <a:xfrm>
            <a:off x="9708480" y="1912680"/>
            <a:ext cx="2309760" cy="347472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TextBox 5"/>
          <p:cNvSpPr/>
          <p:nvPr/>
        </p:nvSpPr>
        <p:spPr>
          <a:xfrm>
            <a:off x="9829080" y="22003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SAMENGESTELDE RISICOSCORE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6"/>
          <p:cNvSpPr/>
          <p:nvPr/>
        </p:nvSpPr>
        <p:spPr>
          <a:xfrm>
            <a:off x="9708480" y="2566080"/>
            <a:ext cx="365724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regen ≥ 2 mm   → +2 punten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wind ≥ 45 km/h → +2 punten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vorst ≤ 0°C    → +1 punt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sneeuw &gt; 0 cm  → +3 punten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vochtig ≥ 97%  → +1 punt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─────────────────────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Totaal: 0–9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9" name="Afbeelding 10"/>
          <p:cNvPicPr/>
          <p:nvPr/>
        </p:nvPicPr>
        <p:blipFill>
          <a:blip r:embed="rId1"/>
          <a:stretch/>
        </p:blipFill>
        <p:spPr>
          <a:xfrm>
            <a:off x="311400" y="1912680"/>
            <a:ext cx="9155520" cy="3474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TextBox 1"/>
          <p:cNvSpPr/>
          <p:nvPr/>
        </p:nvSpPr>
        <p:spPr>
          <a:xfrm>
            <a:off x="411480" y="255960"/>
            <a:ext cx="11338200" cy="55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Data Pipeline — </a:t>
            </a:r>
            <a:r>
              <a:rPr lang="nl-NL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Bronnen samenbrengen tot 1 dataframe 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Rectangle 3"/>
          <p:cNvSpPr/>
          <p:nvPr/>
        </p:nvSpPr>
        <p:spPr>
          <a:xfrm>
            <a:off x="320040" y="1234440"/>
            <a:ext cx="1919880" cy="8226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4"/>
          <p:cNvSpPr/>
          <p:nvPr/>
        </p:nvSpPr>
        <p:spPr>
          <a:xfrm>
            <a:off x="320040" y="1325880"/>
            <a:ext cx="1919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Open-Meteo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5"/>
          <p:cNvSpPr/>
          <p:nvPr/>
        </p:nvSpPr>
        <p:spPr>
          <a:xfrm>
            <a:off x="2240280" y="1371600"/>
            <a:ext cx="31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Rectangle 6"/>
          <p:cNvSpPr/>
          <p:nvPr/>
        </p:nvSpPr>
        <p:spPr>
          <a:xfrm>
            <a:off x="2560320" y="1234440"/>
            <a:ext cx="1919880" cy="82260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TextBox 7"/>
          <p:cNvSpPr/>
          <p:nvPr/>
        </p:nvSpPr>
        <p:spPr>
          <a:xfrm>
            <a:off x="2560320" y="1325880"/>
            <a:ext cx="1919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iRail / Infrabel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8"/>
          <p:cNvSpPr/>
          <p:nvPr/>
        </p:nvSpPr>
        <p:spPr>
          <a:xfrm>
            <a:off x="4480560" y="1371600"/>
            <a:ext cx="31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Rectangle 9"/>
          <p:cNvSpPr/>
          <p:nvPr/>
        </p:nvSpPr>
        <p:spPr>
          <a:xfrm>
            <a:off x="4800600" y="1234440"/>
            <a:ext cx="1919880" cy="82260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10"/>
          <p:cNvSpPr/>
          <p:nvPr/>
        </p:nvSpPr>
        <p:spPr>
          <a:xfrm>
            <a:off x="4800600" y="1325880"/>
            <a:ext cx="1919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Vlaams VC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1"/>
          <p:cNvSpPr/>
          <p:nvPr/>
        </p:nvSpPr>
        <p:spPr>
          <a:xfrm>
            <a:off x="6720840" y="1371600"/>
            <a:ext cx="31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Rectangle 12"/>
          <p:cNvSpPr/>
          <p:nvPr/>
        </p:nvSpPr>
        <p:spPr>
          <a:xfrm>
            <a:off x="7040880" y="1234440"/>
            <a:ext cx="1919880" cy="822600"/>
          </a:xfrm>
          <a:prstGeom prst="rect">
            <a:avLst/>
          </a:prstGeom>
          <a:solidFill>
            <a:srgbClr val="A060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13"/>
          <p:cNvSpPr/>
          <p:nvPr/>
        </p:nvSpPr>
        <p:spPr>
          <a:xfrm>
            <a:off x="7040880" y="1325880"/>
            <a:ext cx="1919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OSRM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14"/>
          <p:cNvSpPr/>
          <p:nvPr/>
        </p:nvSpPr>
        <p:spPr>
          <a:xfrm>
            <a:off x="8961120" y="1371600"/>
            <a:ext cx="319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Rectangle 15"/>
          <p:cNvSpPr/>
          <p:nvPr/>
        </p:nvSpPr>
        <p:spPr>
          <a:xfrm>
            <a:off x="9281160" y="1234440"/>
            <a:ext cx="1919880" cy="822600"/>
          </a:xfrm>
          <a:prstGeom prst="rect">
            <a:avLst/>
          </a:prstGeom>
          <a:solidFill>
            <a:srgbClr val="00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5" name="TextBox 16"/>
          <p:cNvSpPr/>
          <p:nvPr/>
        </p:nvSpPr>
        <p:spPr>
          <a:xfrm>
            <a:off x="9281160" y="1325880"/>
            <a:ext cx="19198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holidays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pkg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7"/>
          <p:cNvSpPr/>
          <p:nvPr/>
        </p:nvSpPr>
        <p:spPr>
          <a:xfrm>
            <a:off x="4114800" y="2240280"/>
            <a:ext cx="3657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↓  build_combined_df()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18"/>
          <p:cNvSpPr/>
          <p:nvPr/>
        </p:nvSpPr>
        <p:spPr>
          <a:xfrm>
            <a:off x="2286000" y="2834640"/>
            <a:ext cx="7497720" cy="91404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Rectangle 19"/>
          <p:cNvSpPr/>
          <p:nvPr/>
        </p:nvSpPr>
        <p:spPr>
          <a:xfrm>
            <a:off x="2286000" y="2834640"/>
            <a:ext cx="7497720" cy="6372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Box 20"/>
          <p:cNvSpPr/>
          <p:nvPr/>
        </p:nvSpPr>
        <p:spPr>
          <a:xfrm>
            <a:off x="2377440" y="2926080"/>
            <a:ext cx="7314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combined_workdays_features.csv  —  1 rij per Belgische werkdag, 2021 → heden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21"/>
          <p:cNvSpPr/>
          <p:nvPr/>
        </p:nvSpPr>
        <p:spPr>
          <a:xfrm>
            <a:off x="411480" y="3931920"/>
            <a:ext cx="10972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AFGELEIDE KOLOMMEN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Rectangle 22"/>
          <p:cNvSpPr/>
          <p:nvPr/>
        </p:nvSpPr>
        <p:spPr>
          <a:xfrm>
            <a:off x="411480" y="4343400"/>
            <a:ext cx="5394600" cy="59400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Box 23"/>
          <p:cNvSpPr/>
          <p:nvPr/>
        </p:nvSpPr>
        <p:spPr>
          <a:xfrm>
            <a:off x="548640" y="43891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weather_risk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24"/>
          <p:cNvSpPr/>
          <p:nvPr/>
        </p:nvSpPr>
        <p:spPr>
          <a:xfrm>
            <a:off x="2880360" y="4434840"/>
            <a:ext cx="2742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0–9 samengestelde risicoscore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Rectangle 25"/>
          <p:cNvSpPr/>
          <p:nvPr/>
        </p:nvSpPr>
        <p:spPr>
          <a:xfrm>
            <a:off x="6172200" y="4343400"/>
            <a:ext cx="5394600" cy="59400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5" name="TextBox 26"/>
          <p:cNvSpPr/>
          <p:nvPr/>
        </p:nvSpPr>
        <p:spPr>
          <a:xfrm>
            <a:off x="6309360" y="43891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car_vc_est_min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27"/>
          <p:cNvSpPr/>
          <p:nvPr/>
        </p:nvSpPr>
        <p:spPr>
          <a:xfrm>
            <a:off x="8641080" y="4434840"/>
            <a:ext cx="2742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VC-basis × weekdag × weerFactor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Rectangle 28"/>
          <p:cNvSpPr/>
          <p:nvPr/>
        </p:nvSpPr>
        <p:spPr>
          <a:xfrm>
            <a:off x="411480" y="5029200"/>
            <a:ext cx="5394600" cy="59400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Box 29"/>
          <p:cNvSpPr/>
          <p:nvPr/>
        </p:nvSpPr>
        <p:spPr>
          <a:xfrm>
            <a:off x="548640" y="50749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car_est_min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30"/>
          <p:cNvSpPr/>
          <p:nvPr/>
        </p:nvSpPr>
        <p:spPr>
          <a:xfrm>
            <a:off x="2880360" y="5120640"/>
            <a:ext cx="2742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OSRM × weekdag × weerFactor (ref)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Rectangle 31"/>
          <p:cNvSpPr/>
          <p:nvPr/>
        </p:nvSpPr>
        <p:spPr>
          <a:xfrm>
            <a:off x="6172200" y="5029200"/>
            <a:ext cx="5394600" cy="59400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32"/>
          <p:cNvSpPr/>
          <p:nvPr/>
        </p:nvSpPr>
        <p:spPr>
          <a:xfrm>
            <a:off x="6309360" y="50749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car_faster_than_train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33"/>
          <p:cNvSpPr/>
          <p:nvPr/>
        </p:nvSpPr>
        <p:spPr>
          <a:xfrm>
            <a:off x="8641080" y="5120640"/>
            <a:ext cx="27428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binary target: 1 als auto sneller + 10 min buffer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Box 1"/>
          <p:cNvSpPr/>
          <p:nvPr/>
        </p:nvSpPr>
        <p:spPr>
          <a:xfrm>
            <a:off x="411480" y="255960"/>
            <a:ext cx="11338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Machine Learning — Aanpak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Rectangle 3"/>
          <p:cNvSpPr/>
          <p:nvPr/>
        </p:nvSpPr>
        <p:spPr>
          <a:xfrm>
            <a:off x="411480" y="1097280"/>
            <a:ext cx="3565800" cy="438876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6" name="Rectangle 4"/>
          <p:cNvSpPr/>
          <p:nvPr/>
        </p:nvSpPr>
        <p:spPr>
          <a:xfrm>
            <a:off x="411480" y="1097280"/>
            <a:ext cx="3565800" cy="63720"/>
          </a:xfrm>
          <a:prstGeom prst="rect">
            <a:avLst/>
          </a:prstGeom>
          <a:solidFill>
            <a:srgbClr val="8B9DC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Box 5"/>
          <p:cNvSpPr/>
          <p:nvPr/>
        </p:nvSpPr>
        <p:spPr>
          <a:xfrm>
            <a:off x="594360" y="118872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Model 1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6"/>
          <p:cNvSpPr/>
          <p:nvPr/>
        </p:nvSpPr>
        <p:spPr>
          <a:xfrm>
            <a:off x="594360" y="1463040"/>
            <a:ext cx="3200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Lineaire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Regressie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Box 7"/>
          <p:cNvSpPr/>
          <p:nvPr/>
        </p:nvSpPr>
        <p:spPr>
          <a:xfrm>
            <a:off x="594360" y="2194560"/>
            <a:ext cx="32000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Eenvoudigste model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Referentielijn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Interpreteerbare coëfficiënten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Rectangle 8"/>
          <p:cNvSpPr/>
          <p:nvPr/>
        </p:nvSpPr>
        <p:spPr>
          <a:xfrm>
            <a:off x="548640" y="4846320"/>
            <a:ext cx="3291480" cy="36360"/>
          </a:xfrm>
          <a:prstGeom prst="rect">
            <a:avLst/>
          </a:prstGeom>
          <a:solidFill>
            <a:srgbClr val="8B9DC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TextBox 9"/>
          <p:cNvSpPr/>
          <p:nvPr/>
        </p:nvSpPr>
        <p:spPr>
          <a:xfrm>
            <a:off x="594360" y="493776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Baseline — wat is de auto-reistijd?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Rectangle 10"/>
          <p:cNvSpPr/>
          <p:nvPr/>
        </p:nvSpPr>
        <p:spPr>
          <a:xfrm>
            <a:off x="4297680" y="1097280"/>
            <a:ext cx="3565800" cy="438876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Rectangle 11"/>
          <p:cNvSpPr/>
          <p:nvPr/>
        </p:nvSpPr>
        <p:spPr>
          <a:xfrm>
            <a:off x="4297680" y="1097280"/>
            <a:ext cx="3565800" cy="6372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4" name="TextBox 12"/>
          <p:cNvSpPr/>
          <p:nvPr/>
        </p:nvSpPr>
        <p:spPr>
          <a:xfrm>
            <a:off x="4480560" y="118872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Model 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3"/>
          <p:cNvSpPr/>
          <p:nvPr/>
        </p:nvSpPr>
        <p:spPr>
          <a:xfrm>
            <a:off x="4480560" y="1463040"/>
            <a:ext cx="3200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Random Forest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Regressor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14"/>
          <p:cNvSpPr/>
          <p:nvPr/>
        </p:nvSpPr>
        <p:spPr>
          <a:xfrm>
            <a:off x="4480560" y="2194560"/>
            <a:ext cx="32000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300 beslisbomen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Niet-lineaire verbanden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Wisselwerking features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Rectangle 15"/>
          <p:cNvSpPr/>
          <p:nvPr/>
        </p:nvSpPr>
        <p:spPr>
          <a:xfrm>
            <a:off x="4434840" y="4846320"/>
            <a:ext cx="3291480" cy="3636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8" name="TextBox 16"/>
          <p:cNvSpPr/>
          <p:nvPr/>
        </p:nvSpPr>
        <p:spPr>
          <a:xfrm>
            <a:off x="4480560" y="493776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Verbeterd — exactere reistijdschatting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17"/>
          <p:cNvSpPr/>
          <p:nvPr/>
        </p:nvSpPr>
        <p:spPr>
          <a:xfrm>
            <a:off x="8183880" y="1097280"/>
            <a:ext cx="3565800" cy="438876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Rectangle 18"/>
          <p:cNvSpPr/>
          <p:nvPr/>
        </p:nvSpPr>
        <p:spPr>
          <a:xfrm>
            <a:off x="8183880" y="1097280"/>
            <a:ext cx="3565800" cy="6372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1" name="TextBox 19"/>
          <p:cNvSpPr/>
          <p:nvPr/>
        </p:nvSpPr>
        <p:spPr>
          <a:xfrm>
            <a:off x="8366760" y="1188720"/>
            <a:ext cx="3200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Model 3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20"/>
          <p:cNvSpPr/>
          <p:nvPr/>
        </p:nvSpPr>
        <p:spPr>
          <a:xfrm>
            <a:off x="8366760" y="1463040"/>
            <a:ext cx="3200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Random Forest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Classifier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21"/>
          <p:cNvSpPr/>
          <p:nvPr/>
        </p:nvSpPr>
        <p:spPr>
          <a:xfrm>
            <a:off x="8366760" y="2194560"/>
            <a:ext cx="32000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Binary uitvoer: auto of trein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class_weight='balanced'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Geeft ook zekerheids-%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Rectangle 22"/>
          <p:cNvSpPr/>
          <p:nvPr/>
        </p:nvSpPr>
        <p:spPr>
          <a:xfrm>
            <a:off x="8321040" y="4846320"/>
            <a:ext cx="3291480" cy="36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23"/>
          <p:cNvSpPr/>
          <p:nvPr/>
        </p:nvSpPr>
        <p:spPr>
          <a:xfrm>
            <a:off x="8366760" y="4937760"/>
            <a:ext cx="3200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Beslissing — auto of trein?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Rectangle 24"/>
          <p:cNvSpPr/>
          <p:nvPr/>
        </p:nvSpPr>
        <p:spPr>
          <a:xfrm>
            <a:off x="365760" y="5806440"/>
            <a:ext cx="11338200" cy="22824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Box 25"/>
          <p:cNvSpPr/>
          <p:nvPr/>
        </p:nvSpPr>
        <p:spPr>
          <a:xfrm>
            <a:off x="411480" y="5774760"/>
            <a:ext cx="11155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Train/test split: 80% / 20% chronologisch (geen shuffle) — tijdreeksdata mag de toekomst niet 'zien'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extBox 1"/>
          <p:cNvSpPr/>
          <p:nvPr/>
        </p:nvSpPr>
        <p:spPr>
          <a:xfrm>
            <a:off x="411480" y="255960"/>
            <a:ext cx="11338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Features — Wat het Model Ziet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0" name="TextBox 3"/>
          <p:cNvSpPr/>
          <p:nvPr/>
        </p:nvSpPr>
        <p:spPr>
          <a:xfrm>
            <a:off x="411480" y="114300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WEER (06–09H VENSTER)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4"/>
          <p:cNvSpPr/>
          <p:nvPr/>
        </p:nvSpPr>
        <p:spPr>
          <a:xfrm>
            <a:off x="411480" y="1463040"/>
            <a:ext cx="5303160" cy="365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rain_total   — totale neerslag (mm)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rain_peak    — maximale neerslagintensiteit (mm/u)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wind_peak    — sterkste windstoot (km/h)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wind_mean    — gemiddelde windsnelheid (km/h)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temp_min     — koudste uur (°C)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temp_mean    — gemiddelde temperatuur (°C)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humidity_max — piekluivochtigheid (mistproxy, %)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snow_total   — totale sneeuwval (cm)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"/>
          <p:cNvSpPr/>
          <p:nvPr/>
        </p:nvSpPr>
        <p:spPr>
          <a:xfrm>
            <a:off x="5989320" y="114300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KALENDER &amp; CONTEXT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Box 6"/>
          <p:cNvSpPr/>
          <p:nvPr/>
        </p:nvSpPr>
        <p:spPr>
          <a:xfrm>
            <a:off x="5989320" y="1463040"/>
            <a:ext cx="530316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weekday_num    — 0=ma … 4=vr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month          — 1–12 (seizoenaliteit)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is_mon         — maandagopbouw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is_tue_thu     — piekmomenten di/do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is_fri         — lichte vrijdagochtend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is_school_holiday — zomer (licht verkeer)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weather_risk   — samengestelde score 0–9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Rectangle 7"/>
          <p:cNvSpPr/>
          <p:nvPr/>
        </p:nvSpPr>
        <p:spPr>
          <a:xfrm>
            <a:off x="425160" y="4454280"/>
            <a:ext cx="11338200" cy="114264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5" name="Rectangle 8"/>
          <p:cNvSpPr/>
          <p:nvPr/>
        </p:nvSpPr>
        <p:spPr>
          <a:xfrm>
            <a:off x="429840" y="4454280"/>
            <a:ext cx="72720" cy="114264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6" name="TextBox 9"/>
          <p:cNvSpPr/>
          <p:nvPr/>
        </p:nvSpPr>
        <p:spPr>
          <a:xfrm>
            <a:off x="646920" y="4897080"/>
            <a:ext cx="10972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Alle 15 features zijn de avond vóór de rit beschikbaar via een weersforecast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Rectangle 26"/>
          <p:cNvSpPr/>
          <p:nvPr/>
        </p:nvSpPr>
        <p:spPr>
          <a:xfrm>
            <a:off x="8458200" y="1143000"/>
            <a:ext cx="3429000" cy="342900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        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8" name="TextBox 1"/>
          <p:cNvSpPr/>
          <p:nvPr/>
        </p:nvSpPr>
        <p:spPr>
          <a:xfrm>
            <a:off x="411480" y="255960"/>
            <a:ext cx="11338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Modelresultaten &amp; Evaluatie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0" name="Picture 3" descr="model_evaluation.png"/>
          <p:cNvPicPr/>
          <p:nvPr/>
        </p:nvPicPr>
        <p:blipFill>
          <a:blip r:embed="rId1"/>
          <a:stretch/>
        </p:blipFill>
        <p:spPr>
          <a:xfrm>
            <a:off x="411480" y="1051560"/>
            <a:ext cx="7818120" cy="551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Rectangle 4"/>
          <p:cNvSpPr/>
          <p:nvPr/>
        </p:nvSpPr>
        <p:spPr>
          <a:xfrm>
            <a:off x="8458200" y="4800600"/>
            <a:ext cx="3565800" cy="160020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Box 5"/>
          <p:cNvSpPr/>
          <p:nvPr/>
        </p:nvSpPr>
        <p:spPr>
          <a:xfrm>
            <a:off x="8641080" y="4846680"/>
            <a:ext cx="3291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EVALUATIEMAATSTAVEN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6"/>
          <p:cNvSpPr/>
          <p:nvPr/>
        </p:nvSpPr>
        <p:spPr>
          <a:xfrm>
            <a:off x="8641080" y="521244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MAE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7"/>
          <p:cNvSpPr/>
          <p:nvPr/>
        </p:nvSpPr>
        <p:spPr>
          <a:xfrm>
            <a:off x="9646920" y="512136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Gemiddelde afwijking in minuten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9"/>
          <p:cNvSpPr/>
          <p:nvPr/>
        </p:nvSpPr>
        <p:spPr>
          <a:xfrm>
            <a:off x="9692280" y="690408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Straft grote fouten zwaarder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10"/>
          <p:cNvSpPr/>
          <p:nvPr/>
        </p:nvSpPr>
        <p:spPr>
          <a:xfrm>
            <a:off x="8641080" y="562428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R²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11"/>
          <p:cNvSpPr/>
          <p:nvPr/>
        </p:nvSpPr>
        <p:spPr>
          <a:xfrm>
            <a:off x="9464040" y="5532480"/>
            <a:ext cx="255996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1.0 = perfect · 0.0 = geen beter dan gemiddelde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12"/>
          <p:cNvSpPr/>
          <p:nvPr/>
        </p:nvSpPr>
        <p:spPr>
          <a:xfrm>
            <a:off x="8636760" y="603540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5-fold CV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Box 13"/>
          <p:cNvSpPr/>
          <p:nvPr/>
        </p:nvSpPr>
        <p:spPr>
          <a:xfrm>
            <a:off x="9601560" y="5989680"/>
            <a:ext cx="22856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Betrouwbaardere generalisatie-schatting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16"/>
          <p:cNvSpPr/>
          <p:nvPr/>
        </p:nvSpPr>
        <p:spPr>
          <a:xfrm>
            <a:off x="8458200" y="1600200"/>
            <a:ext cx="3291480" cy="31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▸  Random Forest (RF) beter dan linear regression</a:t>
            </a:r>
            <a:br>
              <a:rPr sz="1200"/>
            </a:b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(MAE + 0.78 min): </a:t>
            </a: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complexe relatie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tussen features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▸  RF: hele goede (te goede?) voorspelling (R^2-0.987, 0.1 min gem. buffer bij aankomst): overfitting?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▸ RF features: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lvl="1" indent="-216000" defTabSz="457200">
              <a:lnSpc>
                <a:spcPct val="100000"/>
              </a:lnSpc>
              <a:spcBef>
                <a:spcPts val="40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Weekdag &gt; het weer &gt; maand pattern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lvl="1" indent="-216000" defTabSz="457200">
              <a:lnSpc>
                <a:spcPct val="100000"/>
              </a:lnSpc>
              <a:spcBef>
                <a:spcPts val="40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Noto Sans CJK SC"/>
              </a:rPr>
              <a:t>Dinsdag &amp; donderdag zijn verschillend dan de andere dagen, maar zijn niet goed uitlegbaar van het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model (hogere MAE): ‘missing features’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lvl="1" indent="-216000" defTabSz="457200">
              <a:lnSpc>
                <a:spcPct val="100000"/>
              </a:lnSpc>
              <a:spcBef>
                <a:spcPts val="40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Beslissing: afhankelijk van de werkdag, lage temperature, buien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Box 28"/>
          <p:cNvSpPr/>
          <p:nvPr/>
        </p:nvSpPr>
        <p:spPr>
          <a:xfrm>
            <a:off x="8640360" y="6854760"/>
            <a:ext cx="3291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CONCLUSIES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Box 2"/>
          <p:cNvSpPr/>
          <p:nvPr/>
        </p:nvSpPr>
        <p:spPr>
          <a:xfrm>
            <a:off x="8595720" y="1143000"/>
            <a:ext cx="329148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EVALUATIEMAATSTAVEN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3" name=""/>
          <p:cNvPicPr/>
          <p:nvPr/>
        </p:nvPicPr>
        <p:blipFill>
          <a:blip r:embed="rId2"/>
          <a:stretch/>
        </p:blipFill>
        <p:spPr>
          <a:xfrm>
            <a:off x="914400" y="1378440"/>
            <a:ext cx="2286000" cy="273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4" name=""/>
          <p:cNvPicPr/>
          <p:nvPr/>
        </p:nvPicPr>
        <p:blipFill>
          <a:blip r:embed="rId3"/>
          <a:stretch/>
        </p:blipFill>
        <p:spPr>
          <a:xfrm>
            <a:off x="3229200" y="1478880"/>
            <a:ext cx="5000400" cy="282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5" name=""/>
          <p:cNvPicPr/>
          <p:nvPr/>
        </p:nvPicPr>
        <p:blipFill>
          <a:blip r:embed="rId4"/>
          <a:stretch/>
        </p:blipFill>
        <p:spPr>
          <a:xfrm>
            <a:off x="701280" y="1707120"/>
            <a:ext cx="213120" cy="2179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extBox 1"/>
          <p:cNvSpPr/>
          <p:nvPr/>
        </p:nvSpPr>
        <p:spPr>
          <a:xfrm>
            <a:off x="411480" y="255960"/>
            <a:ext cx="11338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50 Scenario Voorspellingen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28" name="Picture 3" descr="scenario_predictions.png"/>
          <p:cNvPicPr/>
          <p:nvPr/>
        </p:nvPicPr>
        <p:blipFill>
          <a:blip r:embed="rId1"/>
          <a:stretch/>
        </p:blipFill>
        <p:spPr>
          <a:xfrm>
            <a:off x="411480" y="1051560"/>
            <a:ext cx="8046360" cy="5577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" name="Rectangle 4"/>
          <p:cNvSpPr/>
          <p:nvPr/>
        </p:nvSpPr>
        <p:spPr>
          <a:xfrm>
            <a:off x="8641080" y="1051560"/>
            <a:ext cx="3291480" cy="557748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Box 5"/>
          <p:cNvSpPr/>
          <p:nvPr/>
        </p:nvSpPr>
        <p:spPr>
          <a:xfrm>
            <a:off x="8823960" y="1188720"/>
            <a:ext cx="3017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SCENARIO DEKKING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Box 6"/>
          <p:cNvSpPr/>
          <p:nvPr/>
        </p:nvSpPr>
        <p:spPr>
          <a:xfrm>
            <a:off x="8823960" y="1554480"/>
            <a:ext cx="301716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Alle weekdagen (ma–vr)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Mooi weer &amp; regen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Zwaar onweer &amp; sneeuw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IJzel (vorst zonder sneeuw)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Schoolvakantie vs. schooltijd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Feestdag (geen pendel)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Vroege zomer, late herfst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›  Combinaties: ma + zware regen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Rectangle 7"/>
          <p:cNvSpPr/>
          <p:nvPr/>
        </p:nvSpPr>
        <p:spPr>
          <a:xfrm>
            <a:off x="8641080" y="4937760"/>
            <a:ext cx="3291480" cy="45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3" name="TextBox 8"/>
          <p:cNvSpPr/>
          <p:nvPr/>
        </p:nvSpPr>
        <p:spPr>
          <a:xfrm>
            <a:off x="8823960" y="5029200"/>
            <a:ext cx="30171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THUISWERK-TRIGGER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Box 9"/>
          <p:cNvSpPr/>
          <p:nvPr/>
        </p:nvSpPr>
        <p:spPr>
          <a:xfrm>
            <a:off x="8823960" y="5394960"/>
            <a:ext cx="30171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weather_risk ≥ 5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ÉN beide modi &gt; 90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→ Thuiswerken aanbevolen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TextBox 1"/>
          <p:cNvSpPr/>
          <p:nvPr/>
        </p:nvSpPr>
        <p:spPr>
          <a:xfrm>
            <a:off x="411480" y="255960"/>
            <a:ext cx="113382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Sleutelinzichten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Rectangle 2"/>
          <p:cNvSpPr/>
          <p:nvPr/>
        </p:nvSpPr>
        <p:spPr>
          <a:xfrm>
            <a:off x="365760" y="822960"/>
            <a:ext cx="11429640" cy="2520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7" name="Rectangle 3"/>
          <p:cNvSpPr/>
          <p:nvPr/>
        </p:nvSpPr>
        <p:spPr>
          <a:xfrm>
            <a:off x="411480" y="1188720"/>
            <a:ext cx="5486040" cy="155412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8" name="Rectangle 4"/>
          <p:cNvSpPr/>
          <p:nvPr/>
        </p:nvSpPr>
        <p:spPr>
          <a:xfrm>
            <a:off x="411480" y="1188720"/>
            <a:ext cx="63720" cy="155412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Box 5"/>
          <p:cNvSpPr/>
          <p:nvPr/>
        </p:nvSpPr>
        <p:spPr>
          <a:xfrm>
            <a:off x="594360" y="1280160"/>
            <a:ext cx="5166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Ma &amp; do = slechtste dagen voor autorijden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6"/>
          <p:cNvSpPr/>
          <p:nvPr/>
        </p:nvSpPr>
        <p:spPr>
          <a:xfrm>
            <a:off x="594360" y="1719000"/>
            <a:ext cx="516600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~18% en ~17% boven vrije doorstroomtijd — menselijk rijgedrag, niet het weer.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Rectangle 7"/>
          <p:cNvSpPr/>
          <p:nvPr/>
        </p:nvSpPr>
        <p:spPr>
          <a:xfrm>
            <a:off x="6217920" y="1188720"/>
            <a:ext cx="5486040" cy="155412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2" name="Rectangle 8"/>
          <p:cNvSpPr/>
          <p:nvPr/>
        </p:nvSpPr>
        <p:spPr>
          <a:xfrm>
            <a:off x="6217920" y="1188720"/>
            <a:ext cx="63720" cy="155412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3" name="TextBox 9"/>
          <p:cNvSpPr/>
          <p:nvPr/>
        </p:nvSpPr>
        <p:spPr>
          <a:xfrm>
            <a:off x="6400800" y="1280160"/>
            <a:ext cx="5166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Zware regen: de grootste weerimpact op autoverkeer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Box 10"/>
          <p:cNvSpPr/>
          <p:nvPr/>
        </p:nvSpPr>
        <p:spPr>
          <a:xfrm>
            <a:off x="6400800" y="1719000"/>
            <a:ext cx="516600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+12% reistijd bij piekintensiteit ≥ 5 mm/u — lichte regen slechts +3–4%.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Rectangle 15"/>
          <p:cNvSpPr/>
          <p:nvPr/>
        </p:nvSpPr>
        <p:spPr>
          <a:xfrm>
            <a:off x="6217920" y="2926080"/>
            <a:ext cx="5486040" cy="155412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6" name="Rectangle 16"/>
          <p:cNvSpPr/>
          <p:nvPr/>
        </p:nvSpPr>
        <p:spPr>
          <a:xfrm>
            <a:off x="6217920" y="2926080"/>
            <a:ext cx="63720" cy="1554120"/>
          </a:xfrm>
          <a:prstGeom prst="rect">
            <a:avLst/>
          </a:prstGeom>
          <a:solidFill>
            <a:srgbClr val="A060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7" name="TextBox 17"/>
          <p:cNvSpPr/>
          <p:nvPr/>
        </p:nvSpPr>
        <p:spPr>
          <a:xfrm>
            <a:off x="6400800" y="3017520"/>
            <a:ext cx="5166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A060FF"/>
                </a:solidFill>
                <a:effectLst/>
                <a:uFillTx/>
                <a:latin typeface="Calibri"/>
              </a:rPr>
              <a:t>Trein is concurrentieel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Box 18"/>
          <p:cNvSpPr/>
          <p:nvPr/>
        </p:nvSpPr>
        <p:spPr>
          <a:xfrm>
            <a:off x="6400800" y="3456360"/>
            <a:ext cx="5166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Op een significant deel werkdagen is de trein sneller dan de auto (zelfs met 10 min buffer).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Rectangle 19"/>
          <p:cNvSpPr/>
          <p:nvPr/>
        </p:nvSpPr>
        <p:spPr>
          <a:xfrm>
            <a:off x="411480" y="2926080"/>
            <a:ext cx="5486040" cy="155412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0" name="Rectangle 20"/>
          <p:cNvSpPr/>
          <p:nvPr/>
        </p:nvSpPr>
        <p:spPr>
          <a:xfrm>
            <a:off x="420480" y="2926080"/>
            <a:ext cx="63720" cy="1554120"/>
          </a:xfrm>
          <a:prstGeom prst="rect">
            <a:avLst/>
          </a:prstGeom>
          <a:solidFill>
            <a:srgbClr val="00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1" name="TextBox 21"/>
          <p:cNvSpPr/>
          <p:nvPr/>
        </p:nvSpPr>
        <p:spPr>
          <a:xfrm>
            <a:off x="493560" y="3017520"/>
            <a:ext cx="5166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99FF"/>
                </a:solidFill>
                <a:effectLst/>
                <a:uFillTx/>
                <a:latin typeface="Calibri"/>
              </a:rPr>
              <a:t>Januari–februari &amp; nov–december = hoogste risicomaanden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Box 22"/>
          <p:cNvSpPr/>
          <p:nvPr/>
        </p:nvSpPr>
        <p:spPr>
          <a:xfrm>
            <a:off x="493560" y="3429000"/>
            <a:ext cx="5166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Beide vervoersmodi zijn tegelijk belast bij slechte weersomstandigheden.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"/>
          <p:cNvSpPr/>
          <p:nvPr/>
        </p:nvSpPr>
        <p:spPr>
          <a:xfrm>
            <a:off x="0" y="0"/>
            <a:ext cx="12188520" cy="191988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4" name="Rectangle 2"/>
          <p:cNvSpPr/>
          <p:nvPr/>
        </p:nvSpPr>
        <p:spPr>
          <a:xfrm>
            <a:off x="0" y="1874520"/>
            <a:ext cx="12188520" cy="7272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5" name="TextBox 3"/>
          <p:cNvSpPr/>
          <p:nvPr/>
        </p:nvSpPr>
        <p:spPr>
          <a:xfrm>
            <a:off x="411480" y="274320"/>
            <a:ext cx="113382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LIVE DEMO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4"/>
          <p:cNvSpPr/>
          <p:nvPr/>
        </p:nvSpPr>
        <p:spPr>
          <a:xfrm>
            <a:off x="411480" y="777240"/>
            <a:ext cx="113382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gent_mechelen_commute_risk_forecast.ipynb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Rectangle 5"/>
          <p:cNvSpPr/>
          <p:nvPr/>
        </p:nvSpPr>
        <p:spPr>
          <a:xfrm>
            <a:off x="411480" y="2148840"/>
            <a:ext cx="5486040" cy="191988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8" name="Rectangle 6"/>
          <p:cNvSpPr/>
          <p:nvPr/>
        </p:nvSpPr>
        <p:spPr>
          <a:xfrm>
            <a:off x="411480" y="2148840"/>
            <a:ext cx="502560" cy="191988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Box 7"/>
          <p:cNvSpPr/>
          <p:nvPr/>
        </p:nvSpPr>
        <p:spPr>
          <a:xfrm>
            <a:off x="475560" y="2743200"/>
            <a:ext cx="365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Box 8"/>
          <p:cNvSpPr/>
          <p:nvPr/>
        </p:nvSpPr>
        <p:spPr>
          <a:xfrm>
            <a:off x="1051560" y="2286000"/>
            <a:ext cx="475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Snelle Run cel uitvoeren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Box 9"/>
          <p:cNvSpPr/>
          <p:nvPr/>
        </p:nvSpPr>
        <p:spPr>
          <a:xfrm>
            <a:off x="1051560" y="2788920"/>
            <a:ext cx="47545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Laadt gecachede resultaten → toont backtest KPI's &amp; aanbevelingen direct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Rectangle 10"/>
          <p:cNvSpPr/>
          <p:nvPr/>
        </p:nvSpPr>
        <p:spPr>
          <a:xfrm>
            <a:off x="6217920" y="2148840"/>
            <a:ext cx="5486040" cy="191988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3" name="Rectangle 11"/>
          <p:cNvSpPr/>
          <p:nvPr/>
        </p:nvSpPr>
        <p:spPr>
          <a:xfrm>
            <a:off x="6217920" y="2148840"/>
            <a:ext cx="502560" cy="191988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Box 12"/>
          <p:cNvSpPr/>
          <p:nvPr/>
        </p:nvSpPr>
        <p:spPr>
          <a:xfrm>
            <a:off x="6282000" y="2743200"/>
            <a:ext cx="365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13"/>
          <p:cNvSpPr/>
          <p:nvPr/>
        </p:nvSpPr>
        <p:spPr>
          <a:xfrm>
            <a:off x="6858000" y="2286000"/>
            <a:ext cx="475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Dag-voorspelling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14"/>
          <p:cNvSpPr/>
          <p:nvPr/>
        </p:nvSpPr>
        <p:spPr>
          <a:xfrm>
            <a:off x="6858000" y="2788920"/>
            <a:ext cx="47545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Geef morgenochtend weersgegevens in → model geeft modus + vertrektijd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Rectangle 15"/>
          <p:cNvSpPr/>
          <p:nvPr/>
        </p:nvSpPr>
        <p:spPr>
          <a:xfrm>
            <a:off x="411480" y="4251960"/>
            <a:ext cx="5486040" cy="191988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Rectangle 16"/>
          <p:cNvSpPr/>
          <p:nvPr/>
        </p:nvSpPr>
        <p:spPr>
          <a:xfrm>
            <a:off x="411480" y="4251960"/>
            <a:ext cx="502560" cy="191988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9" name="TextBox 17"/>
          <p:cNvSpPr/>
          <p:nvPr/>
        </p:nvSpPr>
        <p:spPr>
          <a:xfrm>
            <a:off x="475560" y="4846320"/>
            <a:ext cx="365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Box 18"/>
          <p:cNvSpPr/>
          <p:nvPr/>
        </p:nvSpPr>
        <p:spPr>
          <a:xfrm>
            <a:off x="1051560" y="4389120"/>
            <a:ext cx="475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Risicokalender 2026–2027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Box 19"/>
          <p:cNvSpPr/>
          <p:nvPr/>
        </p:nvSpPr>
        <p:spPr>
          <a:xfrm>
            <a:off x="1051560" y="4892040"/>
            <a:ext cx="47545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Heatmap van 'rode dagen' — ideaal voor langetermijnplanning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Rectangle 20"/>
          <p:cNvSpPr/>
          <p:nvPr/>
        </p:nvSpPr>
        <p:spPr>
          <a:xfrm>
            <a:off x="6217920" y="4251960"/>
            <a:ext cx="5486040" cy="191988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3" name="Rectangle 21"/>
          <p:cNvSpPr/>
          <p:nvPr/>
        </p:nvSpPr>
        <p:spPr>
          <a:xfrm>
            <a:off x="6217920" y="4251960"/>
            <a:ext cx="502560" cy="191988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Box 22"/>
          <p:cNvSpPr/>
          <p:nvPr/>
        </p:nvSpPr>
        <p:spPr>
          <a:xfrm>
            <a:off x="6282000" y="4846320"/>
            <a:ext cx="3654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23"/>
          <p:cNvSpPr/>
          <p:nvPr/>
        </p:nvSpPr>
        <p:spPr>
          <a:xfrm>
            <a:off x="6858000" y="4389120"/>
            <a:ext cx="4754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50 Scenario's bekijken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Box 24"/>
          <p:cNvSpPr/>
          <p:nvPr/>
        </p:nvSpPr>
        <p:spPr>
          <a:xfrm>
            <a:off x="6858000" y="4892040"/>
            <a:ext cx="475452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8B9DC3"/>
                </a:solidFill>
                <a:effectLst/>
                <a:uFillTx/>
                <a:latin typeface="Calibri"/>
              </a:rPr>
              <a:t>scenario_predictions.png — alle combinaties van weekdag × weer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Rectangle 1"/>
          <p:cNvSpPr/>
          <p:nvPr/>
        </p:nvSpPr>
        <p:spPr>
          <a:xfrm>
            <a:off x="0" y="0"/>
            <a:ext cx="109440" cy="6857640"/>
          </a:xfrm>
          <a:prstGeom prst="rect">
            <a:avLst/>
          </a:prstGeom>
          <a:solidFill>
            <a:srgbClr val="00C8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8" name="Rectangle 2"/>
          <p:cNvSpPr/>
          <p:nvPr/>
        </p:nvSpPr>
        <p:spPr>
          <a:xfrm>
            <a:off x="8686800" y="0"/>
            <a:ext cx="3501720" cy="6857640"/>
          </a:xfrm>
          <a:prstGeom prst="rect">
            <a:avLst/>
          </a:prstGeom>
          <a:solidFill>
            <a:srgbClr val="112D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9" name="Rectangle 3"/>
          <p:cNvSpPr/>
          <p:nvPr/>
        </p:nvSpPr>
        <p:spPr>
          <a:xfrm>
            <a:off x="8577000" y="0"/>
            <a:ext cx="109440" cy="685764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0" name="TextBox 4"/>
          <p:cNvSpPr/>
          <p:nvPr/>
        </p:nvSpPr>
        <p:spPr>
          <a:xfrm>
            <a:off x="365760" y="4572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Conclusie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Box 5"/>
          <p:cNvSpPr/>
          <p:nvPr/>
        </p:nvSpPr>
        <p:spPr>
          <a:xfrm>
            <a:off x="365760" y="1005840"/>
            <a:ext cx="80463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Van ruwe data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naar slimme pendelbeslissing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Rectangle 6"/>
          <p:cNvSpPr/>
          <p:nvPr/>
        </p:nvSpPr>
        <p:spPr>
          <a:xfrm>
            <a:off x="365760" y="2377440"/>
            <a:ext cx="457164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3" name="TextBox 7"/>
          <p:cNvSpPr/>
          <p:nvPr/>
        </p:nvSpPr>
        <p:spPr>
          <a:xfrm>
            <a:off x="365760" y="2606040"/>
            <a:ext cx="804636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6 databronnen geïntegreerd in 1 pipeline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1 000+ Belgische werkdagen als trainingsdata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3 ML-modellen getraind &amp; geëvalueerd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50 realistische scenario's gedemonstreerd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Operationeel: geeft vertrekadvies de avond ervoor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Box 8"/>
          <p:cNvSpPr/>
          <p:nvPr/>
        </p:nvSpPr>
        <p:spPr>
          <a:xfrm>
            <a:off x="8823960" y="914400"/>
            <a:ext cx="3108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VERVOLGSTAPPEN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9"/>
          <p:cNvSpPr/>
          <p:nvPr/>
        </p:nvSpPr>
        <p:spPr>
          <a:xfrm>
            <a:off x="8823960" y="1371600"/>
            <a:ext cx="310860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→  Real-time forecast integratie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→  Push-notificatie 's ochtends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→  Uitbreiden naar andere trajecten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→  Live verkeersdata (DATEX II)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Box 10"/>
          <p:cNvSpPr/>
          <p:nvPr/>
        </p:nvSpPr>
        <p:spPr>
          <a:xfrm>
            <a:off x="365760" y="594360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0C8A0"/>
                </a:solidFill>
                <a:effectLst/>
                <a:uFillTx/>
                <a:latin typeface="Calibri"/>
              </a:rPr>
              <a:t>Bedankt voor jullie aandacht!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</TotalTime>
  <Application>LibreOffice/26.2.3.2$Linux_X86_64 LibreOffice_project/d4d5ed47b6084125f28d269a5650105d54dde034</Application>
  <AppVersion>15.0000</AppVersion>
  <Words>1448</Words>
  <Paragraphs>247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Laure Cougnaud</cp:lastModifiedBy>
  <dcterms:modified xsi:type="dcterms:W3CDTF">2026-06-21T22:12:01Z</dcterms:modified>
  <cp:revision>16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Aangepast</vt:lpwstr>
  </property>
  <property fmtid="{D5CDD505-2E9C-101B-9397-08002B2CF9AE}" pid="4" name="Slides">
    <vt:i4>19</vt:i4>
  </property>
</Properties>
</file>