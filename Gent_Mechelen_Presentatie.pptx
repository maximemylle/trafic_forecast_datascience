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657600" cy="68580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109728" cy="68580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2286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Gent → Mechelen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8A0"/>
                </a:solidFill>
                <a:latin typeface="Calibri"/>
              </a:rPr>
              <a:t>Slimmer Pendelen met 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834640"/>
            <a:ext cx="50292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DC3"/>
                </a:solidFill>
                <a:latin typeface="Calibri"/>
              </a:rPr>
              <a:t>Auto · Trein · Thuiswerken — welke keuze is slim vandaag?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1097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Laure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892807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Jack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2768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Maxime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6609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Marc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  <a:latin typeface="Calibri"/>
              </a:rPr>
              <a:t>DATUM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7490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23 juni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DC3"/>
                </a:solidFill>
                <a:latin typeface="Calibri"/>
              </a:rPr>
              <a:t>Syntra Mechelen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Wat willen we bereiken?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DC3"/>
                </a:solidFill>
                <a:latin typeface="Calibri"/>
              </a:rPr>
              <a:t>Elke ochtend één vraag beantwoorden: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"Hoe kom ik vandaag het best naar Mechelen?"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423160"/>
            <a:ext cx="3566160" cy="32004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423160"/>
            <a:ext cx="35661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Calibri"/>
              </a:rPr>
              <a:t>🚗  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E17 → R1 ring → E19
via Antwerpen (~75 km)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423160"/>
            <a:ext cx="3566160" cy="32004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423160"/>
            <a:ext cx="3566160" cy="54864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A0"/>
                </a:solidFill>
                <a:latin typeface="Calibri"/>
              </a:rPr>
              <a:t>🚆  TREIN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Gent-Sint-Pieters → Mechelen
~58 min, 1 overstap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423160"/>
            <a:ext cx="3566160" cy="32004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2423160"/>
            <a:ext cx="3566160" cy="54864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12D4E"/>
                </a:solidFill>
                <a:latin typeface="Calibri"/>
              </a:rPr>
              <a:t>🏠  THUISWERKEN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0632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Wanneer geen enkele modus
betrouwbaar genoeg 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806440"/>
            <a:ext cx="11338560" cy="6858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DC3"/>
                </a:solidFill>
                <a:latin typeface="Calibri"/>
              </a:rPr>
              <a:t>📅  Scope: Belgische werkdagen van januari 2021 tot heden  ·  Data start in 2021 om COVID-lockdown (2020) te vermijden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Team &amp; Taakverdeling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743200" cy="3840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7432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200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LAURE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Verkeersdata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Vlaams Verkeercentrum
(reistijd E17→R1→E19)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743200" cy="3840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743200" cy="73152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371600"/>
            <a:ext cx="320040" cy="3200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JACK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Treindata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Infrabel punctualiteits-
geschiedenis 2021–2026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88720"/>
            <a:ext cx="2743200" cy="3840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88720"/>
            <a:ext cx="2743200" cy="73152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371600"/>
            <a:ext cx="320040" cy="32004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MAXIME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60FF"/>
                </a:solidFill>
                <a:latin typeface="Calibri"/>
              </a:rPr>
              <a:t>Weerdata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Open-Meteo Archive API
(uurlijks, 2021–heden)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188720"/>
            <a:ext cx="2743200" cy="3840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188720"/>
            <a:ext cx="2743200" cy="731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60" y="1371600"/>
            <a:ext cx="320040" cy="3200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  <a:latin typeface="Calibri"/>
              </a:rPr>
              <a:t>Coördinatie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Mockup project + pipeline
structuur &amp; opzet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257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TIJDLIJN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623560"/>
            <a:ext cx="137160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559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02/06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852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Taakver-
deling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5623560"/>
            <a:ext cx="137160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5559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09/06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852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Teams-
vergadering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623560"/>
            <a:ext cx="137160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559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16/06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852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Alignering +
presentatie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5623560"/>
            <a:ext cx="137160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5559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23/06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5852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Presentatie
Syntra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687568"/>
            <a:ext cx="10515600" cy="36576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6 Databronnen — Overzicht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3657600" cy="23317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502920" cy="2331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34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Open-Meteo
Archief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Weerdata uurlijks
2021 → heden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8A0"/>
                </a:solidFill>
                <a:latin typeface="Calibri"/>
              </a:rPr>
              <a:t>Gratis · geen API-sleutel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43000"/>
            <a:ext cx="3657600" cy="23317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502920" cy="2331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34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234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holidays
(Python pkg)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Belgische feestdagen
2021 – 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788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8A0"/>
                </a:solidFill>
                <a:latin typeface="Calibri"/>
              </a:rPr>
              <a:t>Ingebouwde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657600" cy="23317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502920" cy="2331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234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9" y="12344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iRail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9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NMBS-verbindingen
(schema, fallback)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2788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6B35"/>
                </a:solidFill>
                <a:latin typeface="Calibri"/>
              </a:rPr>
              <a:t>Gratis · open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49039"/>
            <a:ext cx="3657600" cy="23317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49039"/>
            <a:ext cx="502920" cy="2331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404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Infrabel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2627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Echte treinpunctualiteit
48 maanden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5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6B35"/>
                </a:solidFill>
                <a:latin typeface="Calibri"/>
              </a:rPr>
              <a:t>data.gov.be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749039"/>
            <a:ext cx="3657600" cy="23317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749039"/>
            <a:ext cx="502920" cy="233172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8404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OSRM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52627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Vrije doorstroomtijd
auto (referentie)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39495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60FF"/>
                </a:solidFill>
                <a:latin typeface="Calibri"/>
              </a:rPr>
              <a:t>OpenStreetMap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3749039"/>
            <a:ext cx="3657600" cy="23317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3749039"/>
            <a:ext cx="502920" cy="23317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7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39" y="384047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Vlaams
Verkeercentrum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39" y="452627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Gemeten reistijden
E17 → R1 → E19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39" y="539495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99FF"/>
                </a:solidFill>
                <a:latin typeface="Calibri"/>
              </a:rPr>
              <a:t>indicatoren.verkeers-
centrum.be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Databron 1: Weerdata — Open-Meteo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4572000" cy="53035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Gratis API, geen registratie nodig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Uurlijkse data terug tot 1940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Locatie: Mechelen (aankomststad)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Venster: 06:00–09:00 (pendeltijd)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Samengevat per dag: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C59F"/>
                </a:solidFill>
                <a:latin typeface="Calibri"/>
              </a:rPr>
              <a:t>  rain_total / rain_peak  (neerslag)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679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C59F"/>
                </a:solidFill>
                <a:latin typeface="Calibri"/>
              </a:rPr>
              <a:t>  wind_peak / wind_mean   (wind)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1538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C59F"/>
                </a:solidFill>
                <a:latin typeface="Calibri"/>
              </a:rPr>
              <a:t>  temp_min / temp_mean    (temperatuur)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6285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C59F"/>
                </a:solidFill>
                <a:latin typeface="Calibri"/>
              </a:rPr>
              <a:t>  humidity_max            (mist-proxy)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103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C59F"/>
                </a:solidFill>
                <a:latin typeface="Calibri"/>
              </a:rPr>
              <a:t>  snow_total              (sneeuwval)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760720"/>
            <a:ext cx="45720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852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💡  Winter &amp; herfst = meeste regen &amp; vorst tijdens pendel</a:t>
            </a:r>
          </a:p>
        </p:txBody>
      </p:sp>
      <p:pic>
        <p:nvPicPr>
          <p:cNvPr id="13" name="Picture 12" descr="plot_weath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97280"/>
            <a:ext cx="67665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Weer tijdens het Pendelvenster (06:00–09:00)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_commute_window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7315200" cy="4937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1097280"/>
            <a:ext cx="3931920" cy="2194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INZICHT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508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Weekdag heeft GEEN invloed op het weer — maandag is niet natter dan vrijdag.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3429000"/>
            <a:ext cx="3931920" cy="2194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INZICHT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8404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Weekdag-verkeerspatronen zijn 100% mensengedrag — niet het weer.</a:t>
            </a:r>
          </a:p>
        </p:txBody>
      </p:sp>
      <p:pic>
        <p:nvPicPr>
          <p:cNvPr id="11" name="Picture 10" descr="plot_weather_by_week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5669280"/>
            <a:ext cx="393192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Databron 2: Belgische Werkdagenkalender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4846320" cy="53035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A0"/>
                </a:solidFill>
                <a:latin typeface="Calibri"/>
              </a:rPr>
              <a:t>holidays Python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2 021 – 2028 (ook toekomst voor forecasts)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is_workday: ma–vr EN geen feestdag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is_school_holiday: juli &amp; augustus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›  Seizoen: meteorologisch (DJF/MAM/JJA/SON)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Waarom filteren?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77639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DC3"/>
                </a:solidFill>
                <a:latin typeface="Calibri"/>
              </a:rPr>
              <a:t>Weekend &amp; feestdagen hebben volledig andere verkeers- en treinpatronen. Ze worden vóór modellering verwijderd.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760720"/>
            <a:ext cx="4846320" cy="6858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852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💡  Mei &amp; november hebben de meeste feestdagen → lichtere pendel</a:t>
            </a:r>
          </a:p>
        </p:txBody>
      </p:sp>
      <p:pic>
        <p:nvPicPr>
          <p:cNvPr id="11" name="Picture 10" descr="plot_calenda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097280"/>
            <a:ext cx="6400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Databron 4: Echte Treindata — Infrabel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029200" cy="53035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Waarom Infrabel en niet iRail?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DC3"/>
                </a:solidFill>
                <a:latin typeface="Calibri"/>
              </a:rPr>
              <a:t>iRail = real-time/toekomst — geen meerjarige vertragingshistorie.
Infrabel publiceert de échte aankomst- en vertrektijden per stop, per trein, elke dag.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48 maanden CSV (jan 2021 – apr 2026)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Filter: vertrekken uit Gent-Sint-Pieters 06–09h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Join: aankomst in Mechelen op zelfde trein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Dagelijks geaggregeerd (mediaan per dag)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26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  <a:latin typeface="Calibri"/>
              </a:rPr>
              <a:t>Kolommen per dag: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C59F"/>
                </a:solidFill>
                <a:latin typeface="Calibri"/>
              </a:rPr>
              <a:t>  › train_planned_journey_min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48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C59F"/>
                </a:solidFill>
                <a:latin typeface="Calibri"/>
              </a:rPr>
              <a:t>  › train_actual_journey_min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49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C59F"/>
                </a:solidFill>
                <a:latin typeface="Calibri"/>
              </a:rPr>
              <a:t>  › train_delay_arr_median_s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515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C59F"/>
                </a:solidFill>
                <a:latin typeface="Calibri"/>
              </a:rPr>
              <a:t>  › train_on_time_pct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53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C59F"/>
                </a:solidFill>
                <a:latin typeface="Calibri"/>
              </a:rPr>
              <a:t>  › train_cancelled_pct</a:t>
            </a:r>
          </a:p>
        </p:txBody>
      </p:sp>
      <p:pic>
        <p:nvPicPr>
          <p:cNvPr id="14" name="Picture 13" descr="plot_infrabe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309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Treinpunctualiteit per Weekdag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_infrabel_by_week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73152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1097280"/>
            <a:ext cx="3931920" cy="51206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TREIN INZICHTEN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002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▸  Maandag &amp; donderdag = hoogste vertragingen (Infrabel data)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▸  Beide modi (auto &amp; trein) zijn tegelijk belast op piekmomenten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▸  On-time rate varieert sterk per maand (winter = slechter)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▸  Annuleringspercentage laag maar merkbaar bij extreme weer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Databron 5+6: Autorijdata — OSRM + Vlaams Verkeercentrum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9144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Route: E17/A14 (Gent → Antwerpen)  ›  R1 buitenring  ›  E19/A1 (Antwerpen → Mechelen)  ·  ~75 km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94560"/>
            <a:ext cx="3474720" cy="39319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60FF"/>
                </a:solidFill>
                <a:latin typeface="Calibri"/>
              </a:rPr>
              <a:t>OSRM (referentie)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Vrije doorstroom: ~50 min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Vermenigvuldigd met weekdag- en weerfactor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Enkel gebruikt als historische referentie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Vlaams Verkeercentrum (primair)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Echte gemeten reistijden per 5-min slot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Maandgemiddelde 06:00–09:55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Juli &amp; augustus ontbreken (schoolvakantie)</a:t>
            </a:r>
          </a:p>
        </p:txBody>
      </p:sp>
      <p:pic>
        <p:nvPicPr>
          <p:cNvPr id="11" name="Picture 10" descr="plot_car_travel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148840"/>
            <a:ext cx="7863840" cy="4023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11480" y="6172200"/>
            <a:ext cx="347472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236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car_vc_est_min = primaire voorspeldoel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Weekdag- &amp; Weerfactoren — Afgeleid uit Historische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4389120" cy="53035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Methode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Weekdagfactoren ← Infrabel gemiddelde aankomstvertraging per dag (1 359 echte ritten)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Verschuif-normaliseer zodat gemiddelde = 1,0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Weerfactoren ← VC seizoensdemontage (53 maanden) + Infrabel dagdata als fallback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Auto-gevoeligheid × 2,0 t.o.v. trein (wegoppervlak vs. spoor)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Monotoniciteitsbewaking per weergroep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754880"/>
            <a:ext cx="43891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Sleutelbevinding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257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Legacy TomTom-factoren hadden dinsdag als drukste dag. Echte Infrabel-data toont maandag + donderdag als drukste, woensdag als rustigst.</a:t>
            </a:r>
          </a:p>
        </p:txBody>
      </p:sp>
      <p:pic>
        <p:nvPicPr>
          <p:cNvPr id="10" name="Picture 9" descr="plot_factor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69037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Auto versus Trein — per Weekdag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_car_vs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77724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21040" y="1097280"/>
            <a:ext cx="3657600" cy="51206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WEEKDAG FACTORS (Infrabel historische 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91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Maandag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16916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×1.12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16916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DRUKSTE 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5146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Dinsdag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5146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×0.98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25146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licht verkeer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337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0"/>
                </a:solidFill>
                <a:latin typeface="Calibri"/>
              </a:rPr>
              <a:t>Woensdag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33375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×0.87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3337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RUSTIGST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60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Donderdag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41605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×1.11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1605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2e drukste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983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Vrijdag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49834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×0.92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49834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lichte ochtend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989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9DC3"/>
                </a:solidFill>
                <a:latin typeface="Calibri"/>
              </a:rPr>
              <a:t>Factor t.o.v. vrije doorstroom (59.5 min OSRM baseline)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Weerrisicoscore per Maand × Weekdag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lot_weather_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731520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55279" y="1097280"/>
            <a:ext cx="3931920" cy="51206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SAMENGESTELDE RISICOSCORE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regen ≥ 2 mm   → +2 punten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wind ≥ 45 km/h → +2 punten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vorst ≤ 0°C    → +1 punt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sneeuw &gt; 0 cm  → +3 punten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vochtig ≥ 97%  → +1 punt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─────────────────────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 Totaal: 0–9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5029200"/>
            <a:ext cx="39319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51206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Jan–feb en nov–dec = hoogste risico.
Weekdag heeft GEEN systematisch hoger weerrisico.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Data Pipeline — Van Bron tot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1920240" cy="82296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25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Open-Meteo
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DC3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234440"/>
            <a:ext cx="192024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325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iRail / Infrabel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DC3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234440"/>
            <a:ext cx="192024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325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Vlaams 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371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DC3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234440"/>
            <a:ext cx="1920240" cy="82296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325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OSRM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3716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DC3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1234440"/>
            <a:ext cx="1920240" cy="82296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3258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holidays
pkg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A0"/>
                </a:solidFill>
                <a:latin typeface="Calibri"/>
              </a:rPr>
              <a:t>↓  build_combined_df()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834640"/>
            <a:ext cx="7498079" cy="9144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2834640"/>
            <a:ext cx="7498079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9260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combined_workdays_features.csv  —  1 rij per Belgische werkdag, 2021 → heden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AFGELEIDE KOLOMMEN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343400"/>
            <a:ext cx="5394960" cy="5943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weather_risk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0–9 samengestelde risicoscore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343400"/>
            <a:ext cx="5394960" cy="5943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car_vc_est_min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VC-basis × weekdag × weerFactor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029200"/>
            <a:ext cx="5394960" cy="5943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car_est_min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120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OSRM × weekdag × weerFactor (ref)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029200"/>
            <a:ext cx="5394960" cy="5943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car_faster_than_train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51206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binary target: 1 als auto sneller + 10 min buffer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Machine Learning — Aanpak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3566160" cy="53949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3566160" cy="64008"/>
          </a:xfrm>
          <a:prstGeom prst="rect">
            <a:avLst/>
          </a:prstGeom>
          <a:solidFill>
            <a:srgbClr val="8B9D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DC3"/>
                </a:solidFill>
                <a:latin typeface="Calibri"/>
              </a:rPr>
              <a:t>Model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Lineaire
Regressie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Eenvoudigste model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Referentielijn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Interpreteerbare coëfficiënten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3291840" cy="36576"/>
          </a:xfrm>
          <a:prstGeom prst="rect">
            <a:avLst/>
          </a:prstGeom>
          <a:solidFill>
            <a:srgbClr val="8B9D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DC3"/>
                </a:solidFill>
                <a:latin typeface="Calibri"/>
              </a:rPr>
              <a:t>Baseline — wat is de auto-reistijd?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566160" cy="53949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566160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Model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463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Random Forest
Regressor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300 beslisbomen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Niet-lineaire verbanden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Wisselwerking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4846320"/>
            <a:ext cx="3291840" cy="36576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8A0"/>
                </a:solidFill>
                <a:latin typeface="Calibri"/>
              </a:rPr>
              <a:t>Verbeterd — exactere reistijdschatting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097280"/>
            <a:ext cx="3566160" cy="53949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097280"/>
            <a:ext cx="356616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Model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1463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Random Forest
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1945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Binary uitvoer: auto of trein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class_weight='balanced'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Geeft ook zekerheids-%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39" y="4846320"/>
            <a:ext cx="32918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6B35"/>
                </a:solidFill>
                <a:latin typeface="Calibri"/>
              </a:rPr>
              <a:t>Beslissing — auto of trein?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Train/test split: 80% / 20% chronologisch (geen shuffle) — tijdreeksdata mag de toekomst niet 'zien'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Features — Wat het Model Ziet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WEER (06–09H VENSTER)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rain_total   — totale neerslag (mm)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rain_peak    — maximale neerslagintensiteit (mm/u)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wind_peak    — sterkste windstoot (km/h)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wind_mean    — gemiddelde windsnelheid (km/h)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temp_min     — koudste uur (°C)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temp_mean    — gemiddelde temperatuur (°C)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humidity_max — piekluivochtigheid (mistproxy, %)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snow_total   — totale sneeuwval (cm)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KALENDER &amp;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weekday_num    — 0=ma … 4=vr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month          — 1–12 (seizoenaliteit)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is_mon         — maandagopbouw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is_tue_thu     — piekmomenten di/do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is_fri         — lichte vrijdagochtend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is_school_holiday — zomer (licht verkeer)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›  weather_risk   — samengestelde score 0–9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349240"/>
            <a:ext cx="11338560" cy="11430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5349240"/>
            <a:ext cx="73152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4864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Alle 15 features zijn de avond vóór de rit beschikbaar via een weersforecast — het model is volledig operationeel in de praktijk.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Modelresultaten &amp; Evaluatie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7772400" cy="5486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66760" y="1051560"/>
            <a:ext cx="3566160" cy="24231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EVALUATIEMAATSTAVEN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Gemiddelde afwijking in minuten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2996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202996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Straft grote fouten zwaarder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5511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5511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1.0 = perfect · 0.0 = geen beter dan gemiddelde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0723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5-fold 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30723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Betrouwbaardere generalisatie-schatting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3657600"/>
            <a:ext cx="3566160" cy="2194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7490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BUSINESS VRAGEN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1148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 Hoe vaak juiste modus gekozen?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 Risico te laat aankomen om 09:00?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 Gem. buffer bij aankomst?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Wanneer welke modus? — Het Beslissingsmodel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2926080" cy="10058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926080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STAP 1  —  Weerrisicoscore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Bereken score 0–9 op basis van
neerslag, wind, vorst, sneeuw &amp; mist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DC3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188720"/>
            <a:ext cx="3840480" cy="10058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188720"/>
            <a:ext cx="38404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Score &gt;= 5?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00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Extreme weersomstandigheden —
beiden modi onbetrouwbaar of gevaarlijk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240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JA 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606040"/>
            <a:ext cx="2743200" cy="1463040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2606040"/>
            <a:ext cx="274320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697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35"/>
                </a:solidFill>
                <a:latin typeface="Calibri"/>
              </a:rPr>
              <a:t>THUISWERKEN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15468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DC3"/>
                </a:solidFill>
                <a:latin typeface="Calibri"/>
              </a:rPr>
              <a:t>Sneeuw + iets · Zware regen + storm
IJzel + wind · Code rood KMI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A0"/>
                </a:solidFill>
                <a:latin typeface="Calibri"/>
              </a:rPr>
              <a:t>NEE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188720"/>
            <a:ext cx="3200400" cy="10058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188720"/>
            <a:ext cx="3200400" cy="640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261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STAP 2  —  Auto vs. Trein vergelijk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6002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Auto-reistijd (VC gecalibreerd)
vs. Treinreis (58 min) + 10 min buffer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  <a:latin typeface="Calibri"/>
              </a:rPr>
              <a:t>Auto &lt;= 68 min  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2606040"/>
            <a:ext cx="2560320" cy="1463040"/>
          </a:xfrm>
          <a:prstGeom prst="rect">
            <a:avLst/>
          </a:prstGeom>
          <a:solidFill>
            <a:srgbClr val="0D3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2606040"/>
            <a:ext cx="2560320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26974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565C0"/>
                </a:solidFill>
                <a:latin typeface="Calibri"/>
              </a:rPr>
              <a:t>AUTO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1546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DC3"/>
                </a:solidFill>
                <a:latin typeface="Calibri"/>
              </a:rPr>
              <a:t>Woensdag (vrijwel altijd)
Dinsdag &amp; vrijdag (normaal weer)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Auto &gt; 68 min  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4526280"/>
            <a:ext cx="2560320" cy="1463040"/>
          </a:xfrm>
          <a:prstGeom prst="rect">
            <a:avLst/>
          </a:prstGeom>
          <a:solidFill>
            <a:srgbClr val="3E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4526280"/>
            <a:ext cx="25603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4617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35"/>
                </a:solidFill>
                <a:latin typeface="Calibri"/>
              </a:rPr>
              <a:t>TREIN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0749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DC3"/>
                </a:solidFill>
                <a:latin typeface="Calibri"/>
              </a:rPr>
              <a:t>Maandag &amp; donderdag (bijna altijd)
Bij zware regen of sterke wind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32720" y="2240280"/>
            <a:ext cx="36576" cy="3200400"/>
          </a:xfrm>
          <a:prstGeom prst="rect">
            <a:avLst/>
          </a:prstGeom>
          <a:solidFill>
            <a:srgbClr val="8B9D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343400"/>
            <a:ext cx="8138160" cy="23317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343400"/>
            <a:ext cx="8138160" cy="54864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16552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  <a:latin typeface="Calibri"/>
              </a:rPr>
              <a:t>RISICOSCORE BREAKDOWN (max = 9 punten)  →  drempel =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Regen  &gt;= 2 mm/u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8280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  <a:latin typeface="Calibri"/>
              </a:rPr>
              <a:t>+2 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82803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DC3"/>
                </a:solidFill>
                <a:latin typeface="Calibri"/>
              </a:rPr>
              <a:t>matige tot zware neerslag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755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Wind  &gt;= 45 km/h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1755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  <a:latin typeface="Calibri"/>
              </a:rPr>
              <a:t>+2 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17550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DC3"/>
                </a:solidFill>
                <a:latin typeface="Calibri"/>
              </a:rPr>
              <a:t>windstoten op snelweg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229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Vorst  (temp &lt; 0°C)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5229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DC3"/>
                </a:solidFill>
                <a:latin typeface="Calibri"/>
              </a:rPr>
              <a:t>+1 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5522976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DC3"/>
                </a:solidFill>
                <a:latin typeface="Calibri"/>
              </a:rPr>
              <a:t>ijzel / berijpte wegen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870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Sneeuw  (&gt; 0 cm)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8704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+3 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870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DC3"/>
                </a:solidFill>
                <a:latin typeface="Calibri"/>
              </a:rPr>
              <a:t>sneeuw haalt drempel snel!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217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Mist  (vochtigheid ≥ 97%)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6217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DC3"/>
                </a:solidFill>
                <a:latin typeface="Calibri"/>
              </a:rPr>
              <a:t>+1 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6217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DC3"/>
                </a:solidFill>
                <a:latin typeface="Calibri"/>
              </a:rPr>
              <a:t>dense ochtendmist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Uitgebreide Analyse — 485 Scenario's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enarios_extended_by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7498079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138160" y="1097280"/>
            <a:ext cx="3749039" cy="530352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SLEUTELBEVINDINGEN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69164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691640"/>
            <a:ext cx="54864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Ma &amp; Do: trein wint in 86% van scenario's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3055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69 min auto vs. 68 min drempel. Elke extra vertraging = trein.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78892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2788920"/>
            <a:ext cx="54864" cy="10058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834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  <a:latin typeface="Calibri"/>
              </a:rPr>
              <a:t>Woensdag: auto wint altijd (droog/regen)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2278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55 min auto ruim onder drempel. Enkel storm = thuiswerken.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86200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886200"/>
            <a:ext cx="54864" cy="1005840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3636"/>
                </a:solidFill>
                <a:latin typeface="Calibri"/>
              </a:rPr>
              <a:t>Storm (code rood) = altijd thuiswerken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3251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Wind &gt; 45 km/h + regen ≥ 2 mm → risicoscore ≥ 5 → thuiswerken.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983479"/>
            <a:ext cx="3749039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4983479"/>
            <a:ext cx="54864" cy="10058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50291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A0"/>
                </a:solidFill>
                <a:latin typeface="Calibri"/>
              </a:rPr>
              <a:t>Zware regen + wind: 73% trein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422391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DC3"/>
                </a:solidFill>
                <a:latin typeface="Calibri"/>
              </a:rPr>
              <a:t>Auto-tijd stijgt door regen (+12%) → overschrijdt drempel op 3 van 5 dagen.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6080760"/>
            <a:ext cx="3749039" cy="4572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6126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B9DC3"/>
                </a:solidFill>
                <a:latin typeface="Calibri"/>
              </a:rPr>
              <a:t>predict_scenarios_extended.py  ·  5 dagen × 12 maanden × 8 weercondities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50 Scenario Voorspellingen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enario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8046720" cy="5577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41080" y="1051560"/>
            <a:ext cx="3291840" cy="55778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1188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A0"/>
                </a:solidFill>
                <a:latin typeface="Calibri"/>
              </a:rPr>
              <a:t>SCENARIO DEKKING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5544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Alle weekdagen (ma–vr)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Mooi weer &amp; regen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Zwaar onweer &amp; sneeuw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IJzel (vorst zonder sneeuw)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Schoolvakantie vs. schooltijd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Feestdag (geen pendel)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Vroege zomer, late herfst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›  Combinaties: ma + zware regen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4937760"/>
            <a:ext cx="32918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50292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THUISWERK-TRIGGER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5394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weather_risk &gt;= 5
(sneeuw + iets, of zware regen + storm)
→ Thuiswerken aanbevolen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A0"/>
                </a:solidFill>
                <a:latin typeface="Calibri"/>
              </a:rPr>
              <a:t>Sleutelinzichten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30000" cy="254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188720"/>
            <a:ext cx="5486400" cy="1554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64008" cy="1554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Ma &amp; do = slechtste dagen voor autorijden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~18% en ~17% boven vrije doorstroomtijd (Infrabel) — menselijk rijgedrag, niet het weer.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1554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64008" cy="155448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Zware regen: de grootste weerimpact op autoverkeer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1907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+12% reistijd bij piekintensiteit ≥ 5 mm/u — lichte regen en rijp slechts +3–4%.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26080"/>
            <a:ext cx="5486400" cy="1554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926080"/>
            <a:ext cx="64008" cy="1554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Weer is NIET afhankelijk van weekdag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5643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Maandag is niet natter dan vrijdag. Verkeerspatronen = mensengedrag.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5486400" cy="1554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64008" cy="155448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60FF"/>
                </a:solidFill>
                <a:latin typeface="Calibri"/>
              </a:rPr>
              <a:t>Trein is concurrentieel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5643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Op een significant deel werkdagen is de trein sneller dan de auto (zelfs met 10 min buffer).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63440"/>
            <a:ext cx="5486400" cy="1554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663440"/>
            <a:ext cx="64008" cy="155448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75488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FF"/>
                </a:solidFill>
                <a:latin typeface="Calibri"/>
              </a:rPr>
              <a:t>Januari–februari &amp; nov–december = hoogste risicomaanden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19379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Beide vervoersmodi zijn tegelijk belast bij slechte weersomstandigheden.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63440"/>
            <a:ext cx="5486400" cy="155448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663440"/>
            <a:ext cx="64008" cy="155448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Juiste route: E17 → R1 → E19 via Antwerpen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9379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Niet de directe E40. Bevestigd door VC-gegevens die overeenkomen met GPS-aanbevelingen.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88952" cy="73152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A0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gent_mechelen_commute_risk_forecast.ipynb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5486400" cy="19202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502920" cy="1920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Snelle Run cel uitvoeren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Laadt gecachede resultaten → toont backtest KPI's &amp; aanbevelingen direct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48840"/>
            <a:ext cx="5486400" cy="19202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502920" cy="1920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743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Dag-voorspelling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78892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Geef morgenochtend weersgegevens in → model geeft modus + vertrektijd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251960"/>
            <a:ext cx="5486400" cy="19202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251960"/>
            <a:ext cx="502920" cy="1920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8463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89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Risicokalender 2026–2027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920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Heatmap van 'rode dagen' — ideaal voor langetermijnplanning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51960"/>
            <a:ext cx="5486400" cy="192024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251960"/>
            <a:ext cx="502920" cy="19202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48463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389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50 Scenario's bekijken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8920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DC3"/>
                </a:solidFill>
                <a:latin typeface="Calibri"/>
              </a:rPr>
              <a:t>scenario_predictions.png — alle combinaties van weekdag × weer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7072" y="0"/>
            <a:ext cx="109728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Conclusie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Van ruwe data
naar slimme pendelbeslissing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4572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✓  6 databronnen geïntegreerd in 1 pipeline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✓  1 000+ Belgische werkdagen als trainingsdata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✓  3 ML-modellen getraind &amp; geëvalueerd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✓  50 realistische scenario's gedemonstreerd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✓  Operationeel: geeft vertrekadvies de avond ervoor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914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VERVOLGSTAPPEN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3716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→  Real-time forecast integratie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→  Push-notificatie 's ochtends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→  Uitbreiden naar andere trajecten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→  Live verkeersdata (DATEX 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43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A0"/>
                </a:solidFill>
                <a:latin typeface="Calibri"/>
              </a:rPr>
              <a:t>Bedankt voor jullie aandacht!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