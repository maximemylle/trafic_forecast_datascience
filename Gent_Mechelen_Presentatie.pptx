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3657600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0392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914400"/>
            <a:ext cx="228600" cy="228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Gent → Mechelen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4884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C8A0"/>
                </a:solidFill>
                <a:latin typeface="Calibri"/>
              </a:rPr>
              <a:t>Slimmer Pendelen met 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34640"/>
            <a:ext cx="502920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B9DC3"/>
                </a:solidFill>
                <a:latin typeface="Calibri"/>
              </a:rPr>
              <a:t>Auto · Trein · Thuiswerken — welke keuze is slim vandaag?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097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92807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27685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66090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3383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DATUM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749039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23 juni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9DC3"/>
                </a:solidFill>
                <a:latin typeface="Calibri"/>
              </a:rPr>
              <a:t>Syntra Mechelen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Wat willen we bereiken?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B9DC3"/>
                </a:solidFill>
                <a:latin typeface="Calibri"/>
              </a:rPr>
              <a:t>Elke ochtend één vraag beantwoorden: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5087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"Hoe kom ik vandaag het best naar Mechelen?"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423160"/>
            <a:ext cx="356616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35"/>
                </a:solidFill>
                <a:latin typeface="Calibri"/>
              </a:rPr>
              <a:t>🚗 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E17 → R1 ring → E19
via Antwerpen (~75 km)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423160"/>
            <a:ext cx="3566160" cy="54864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🚆  TREIN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Gent-Sint-Pieters → Mechelen
~58 min, 1 overstap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23160"/>
            <a:ext cx="3566160" cy="3200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2423160"/>
            <a:ext cx="3566160" cy="54864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2560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12D4E"/>
                </a:solidFill>
                <a:latin typeface="Calibri"/>
              </a:rPr>
              <a:t>🏠  THUISWERKEN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0632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Wanneer geen enkele modus
betrouwbaar genoeg 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06440"/>
            <a:ext cx="11338560" cy="6858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📅  Scope: Belgische werkdagen van januari 2021 tot heden  ·  Data start in 2021 om COVID-lockdown (2020) te vermijden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Team &amp; Taakverdeling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20040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LAURE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Verkeersdata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Vlaams Verkeercentrum
(reistijd E17→R1→E19)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188720"/>
            <a:ext cx="2743200" cy="73152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371600"/>
            <a:ext cx="320040" cy="3200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JACK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Treindata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Infrabel punctualiteits-
geschiedenis 2021–2026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188720"/>
            <a:ext cx="2743200" cy="73152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371600"/>
            <a:ext cx="320040" cy="32004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MAXIME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Weerdata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Open-Meteo Archive API
(uurlijks, 2021–heden)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1188720"/>
            <a:ext cx="2743200" cy="3840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188720"/>
            <a:ext cx="2743200" cy="73152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1371600"/>
            <a:ext cx="320040" cy="32004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417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874519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FF"/>
                </a:solidFill>
                <a:latin typeface="Calibri"/>
              </a:rPr>
              <a:t>Coördinatie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2860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Mockup project + pipeline
structuur &amp; opzet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TIJDLIJN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02/06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Taakver-
deling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09/06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Teams-
vergadering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16/06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Alignering +
presentatie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5623560"/>
            <a:ext cx="13716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5559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23/06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5852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Presentatie
Syntra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5687568"/>
            <a:ext cx="10515600" cy="36576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6 Databronnen — Overzicht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Open-Meteo
Archief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Weerdata uurlijks
2021 → heden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Gratis · geen API-sleutel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502920" cy="233172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holidays
(Python pkg)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Belgische feestdagen
2021 – 2028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A0"/>
                </a:solidFill>
                <a:latin typeface="Calibri"/>
              </a:rPr>
              <a:t>Ingebouwde dataset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143000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143000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7" y="1234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39" y="1234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iRail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39" y="1920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NMBS-verbindingen
(schema, fallback)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39" y="2788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Gratis · open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502920" cy="2331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Infrabel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Echte treinpunctualiteit
48 maanden 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6B35"/>
                </a:solidFill>
                <a:latin typeface="Calibri"/>
              </a:rPr>
              <a:t>data.gov.be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749039"/>
            <a:ext cx="502920" cy="233172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Vrije doorstroomtijd
auto (referentie)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060FF"/>
                </a:solidFill>
                <a:latin typeface="Calibri"/>
              </a:rPr>
              <a:t>OpenStreetMap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3749039"/>
            <a:ext cx="3657600" cy="23317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79" y="3749039"/>
            <a:ext cx="502920" cy="233172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7" y="3840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39" y="3840479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Vlaams
Verkeercentrum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39" y="45262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Gemeten reistijden
E17 → R1 → E19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39" y="53949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99FF"/>
                </a:solidFill>
                <a:latin typeface="Calibri"/>
              </a:rPr>
              <a:t>indicatoren.verkeers-
centrum.be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1: Weerdata — Open-Meteo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57200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Gratis API, geen registratie nodig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Uurlijkse data terug tot 1940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Locatie: Mechelen (aankomststad)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Venster: 06:00–09:00 (pendeltijd)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Samengevat per dag: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rain_total / rain_peak  (neerslag)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679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wind_peak / wind_mean   (wind)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15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temp_min / temp_mean    (temperatuur)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6285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humidity_max            (mist-proxy)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103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C59F"/>
                </a:solidFill>
                <a:latin typeface="Calibri"/>
              </a:rPr>
              <a:t>  snow_total              (sneeuwval)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760720"/>
            <a:ext cx="4572000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8521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💡  Winter &amp; herfst = meeste regen &amp; vorst tijdens pendel</a:t>
            </a:r>
          </a:p>
        </p:txBody>
      </p:sp>
      <p:pic>
        <p:nvPicPr>
          <p:cNvPr id="13" name="Picture 12" descr="plot_weath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097280"/>
            <a:ext cx="67665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 tijdens het Pendelvenster (06:00–09:00)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commute_window_weat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49377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INZICHT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5087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Weekdag heeft GEEN invloed op het weer — maandag is niet natter dan vrijdag.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3429000"/>
            <a:ext cx="393192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INZICHT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84048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Weekdag-verkeerspatronen zijn 100% mensengedrag — niet het weer.</a:t>
            </a:r>
          </a:p>
        </p:txBody>
      </p:sp>
      <p:pic>
        <p:nvPicPr>
          <p:cNvPr id="11" name="Picture 10" descr="plot_weather_by_week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5669280"/>
            <a:ext cx="393192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2: Belgische Werkdagenkalender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484632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A0"/>
                </a:solidFill>
                <a:latin typeface="Calibri"/>
              </a:rPr>
              <a:t>holidays Python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2 021 – 2028 (ook toekomst voor forecasts)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is_workday: ma–vr EN geen feestdag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is_school_holiday: juli &amp; augustus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›  Seizoen: meteorologisch (DJF/MAM/JJA/SON)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Waarom filteren?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77639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Weekend &amp; feestdagen hebben volledig andere verkeers- en treinpatronen. Ze worden vóór modellering verwijderd.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760720"/>
            <a:ext cx="4846320" cy="6858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85216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💡  Mei &amp; november hebben de meeste feestdagen → lichtere pendel</a:t>
            </a:r>
          </a:p>
        </p:txBody>
      </p:sp>
      <p:pic>
        <p:nvPicPr>
          <p:cNvPr id="11" name="Picture 10" descr="plot_calenda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097280"/>
            <a:ext cx="64008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4: Echte Treindata — Infrabel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5029200" cy="53035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Waarom Infrabel en niet iRail?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DC3"/>
                </a:solidFill>
                <a:latin typeface="Calibri"/>
              </a:rPr>
              <a:t>iRail = real-time/toekomst — geen meerjarige vertragingshistorie.
Infrabel publiceert de échte aankomst- en vertrektijden per stop, per trein, elke dag.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48 maanden CSV (jan 2021 – apr 2026)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Filter: vertrekken uit Gent-Sint-Pieters 06–09h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Join: aankomst in Mechelen op zelfde trein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Dagelijks geaggregeerd (mediaan per dag)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5262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A0"/>
                </a:solidFill>
                <a:latin typeface="Calibri"/>
              </a:rPr>
              <a:t>Kolommen per 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train_planned_journey_min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48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train_actual_journey_min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498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train_delay_arr_median_s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75157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train_on_time_pct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053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C59F"/>
                </a:solidFill>
                <a:latin typeface="Calibri"/>
              </a:rPr>
              <a:t>  › train_cancelled_pct</a:t>
            </a:r>
          </a:p>
        </p:txBody>
      </p:sp>
      <p:pic>
        <p:nvPicPr>
          <p:cNvPr id="14" name="Picture 13" descr="plot_infrabel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63093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Treinpunctualiteit per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infrabel_by_week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TREIN INZICHTEN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002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Dinsdag &amp; donderdag = hoogste vertragingen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Beide modi (auto &amp; trein) zijn tegelijk belast op piekmomenten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On-time rate varieert sterk per maand (winter = slechter)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▸  Annuleringspercentage laag maar merkbaar bij extreme weer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Databron 5+6: Autorijdata — OSRM + Vlaams Verkeercentrum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11338560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Route: E17/A14 (Gent → Antwerpen)  ›  R1 buitenring  ›  E19/A1 (Antwerpen → Mechelen)  ·  ~75 km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94560"/>
            <a:ext cx="3474720" cy="3931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OSRM (referentie)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Vrije doorstroom: ~50 min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Vermenigvuldigd met weekdag- en weerfactor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Enkel gebruikt als historische referentie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06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Vlaams Verkeercentrum (primair)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Echte gemeten reistijden per 5-min slot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Maandgemiddelde 06:00–09:55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Juli &amp; augustus ontbreken (schoolvakantie)</a:t>
            </a:r>
          </a:p>
        </p:txBody>
      </p:sp>
      <p:pic>
        <p:nvPicPr>
          <p:cNvPr id="11" name="Picture 10" descr="plot_car_trave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2148840"/>
            <a:ext cx="7863840" cy="4023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11480" y="6172200"/>
            <a:ext cx="3474720" cy="411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23620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car_vc_est_min = primaire voorspeldoel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Auto versus Trein — per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car_vs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7724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21040" y="1097280"/>
            <a:ext cx="365760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2344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WEEKDAG FACTORS (E40-corridor)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6916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Maandag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169164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×1.28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16916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opbouw na weekend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5146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Dinsdag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51460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×1.35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5146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DRUKSTE 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3375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A0"/>
                </a:solidFill>
                <a:latin typeface="Calibri"/>
              </a:rPr>
              <a:t>Woensdag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33756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×1.20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33375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rustigst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1605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Donderdag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416052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×1.33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41605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2e drukste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9834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Vrijdag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498348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×1.15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49834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lichte ochtend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Weerrisicoscore per Maand × Weekdag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lot_weather_risk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73152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955279" y="1097280"/>
            <a:ext cx="3931920" cy="51206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SAMENGESTELDE RISICOSCORE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regen ≥ 2 mm   → +2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wind ≥ 45 km/h → +2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vorst ≤ 0°C    → +1 punt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sneeuw &gt; 0 cm  → +3 punten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vochtig ≥ 97%  → +1 punt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─────────────────────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   Totaal: 0–9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5029200"/>
            <a:ext cx="393192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51206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Jan–feb en nov–dec = hoogste risico.
Weekdag heeft GEEN systematisch hoger weerrisico.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Data Pipeline — Van Bron tot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1920240" cy="82296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Open-Meteo
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iRail / Infrabel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234440"/>
            <a:ext cx="19202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Vlaams VC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234440"/>
            <a:ext cx="1920240" cy="82296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OSRM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3716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B9DC3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234440"/>
            <a:ext cx="1920240" cy="82296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1325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holidays
pkg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A0"/>
                </a:solidFill>
                <a:latin typeface="Calibri"/>
              </a:rPr>
              <a:t>↓  build_combined_df()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834640"/>
            <a:ext cx="7498079" cy="9144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2834640"/>
            <a:ext cx="7498079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0" y="29260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combined_workdays_features.csv  —  1 rij per Belgische werkdag, 2021 → heden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AFGELEIDE KOLOMMEN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weather_risk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0–9 samengestelde risicoscore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3434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car_vc_est_min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434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VC-basis × weekdag × weerFactor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car_est_min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OSRM × weekdag × weerFactor (ref)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5029200"/>
            <a:ext cx="5394960" cy="5943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5074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Calibri"/>
              </a:rPr>
              <a:t>car_faster_than_train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binary target: 1 als auto sneller + 10 min buffer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Machine Learning — Aanpak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3566160" cy="64008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DC3"/>
                </a:solidFill>
                <a:latin typeface="Calibri"/>
              </a:rPr>
              <a:t>Model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Lineaire
Regressie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Eenvoudigste model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Referentielijn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Interpreteerbare coëfficiënten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3291840" cy="36576"/>
          </a:xfrm>
          <a:prstGeom prst="rect">
            <a:avLst/>
          </a:prstGeom>
          <a:solidFill>
            <a:srgbClr val="8B9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B9DC3"/>
                </a:solidFill>
                <a:latin typeface="Calibri"/>
              </a:rPr>
              <a:t>Baseline — wat is de auto-reistijd?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566160" cy="64008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Model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Regressor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300 beslisbomen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Niet-lineaire verbanden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Wisselwerking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846320"/>
            <a:ext cx="3291840" cy="36576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C8A0"/>
                </a:solidFill>
                <a:latin typeface="Calibri"/>
              </a:rPr>
              <a:t>Verbeterd — exactere reistijdschatting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1097280"/>
            <a:ext cx="3566160" cy="53949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5661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Model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14630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Random Forest
Classifier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194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Binary uitvoer: auto of trein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class_weight='balanced'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Geeft ook zekerheids-%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39" y="4846320"/>
            <a:ext cx="32918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4937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6B35"/>
                </a:solidFill>
                <a:latin typeface="Calibri"/>
              </a:rPr>
              <a:t>Beslissing — auto of trein?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Train/test split: 80% / 20% chronologisch (geen shuffle) — tijdreeksdata mag de toekomst niet 'zien'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Features — Wat het Model Ziet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WEER (06–09H VENSTER)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630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rain_total   — totale neerslag (mm)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rain_peak    — maximale neerslagintensiteit (mm/u)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wind_peak    — sterkste windstoot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wind_mean    — gemiddelde windsnelheid (km/h)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temp_min     — koudste 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temp_mean    — gemiddelde temperatuur (°C)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humidity_max — piekluivochtigheid (mistproxy, %)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snow_total   — totale sneeuwval (cm)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143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KALENDER &amp;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46304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weekday_num    — 0=ma … 4=vr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month          — 1–12 (seizoenaliteit)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is_mon         — maandagopbouw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is_tue_thu     — piekmomenten di/do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is_fri         — lichte vrijdagochtend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is_school_holiday — zomer (licht verkeer)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›  weather_risk   — samengestelde score 0–9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5349240"/>
            <a:ext cx="11338560" cy="1143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5349240"/>
            <a:ext cx="73152" cy="1143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4864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Alle 15 features zijn de avond vóór de rit beschikbaar via een weersforecast — het model is volledig operationeel in de praktijk.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Modelresultaten &amp; Evaluatie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7772400" cy="548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66760" y="1051560"/>
            <a:ext cx="3566160" cy="24231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49640" y="1143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EVALUATIEMAATSTAVEN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5087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MAE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Gemiddelde afwijking in minuten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029967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RMSE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5480" y="202996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Straft grote fouten zwaarder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55117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55117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1.0 = perfect · 0.0 = geen beter dan gemiddelde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0723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5-fold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30723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DC3"/>
                </a:solidFill>
                <a:latin typeface="Calibri"/>
              </a:rPr>
              <a:t>Betrouwbaardere generalisatie-schatting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657600"/>
            <a:ext cx="3566160" cy="219456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74903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BUSINESS VRAGEN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11480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Hoe vaak juiste modus gekozen?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Risico te laat aankomen om 09:00?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 Gem. buffer bij aankomst?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50 Scenario Voorspellingen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enario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8046720" cy="5577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41080" y="1051560"/>
            <a:ext cx="3291840" cy="55778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2396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0"/>
                </a:solidFill>
                <a:latin typeface="Calibri"/>
              </a:rPr>
              <a:t>SCENARIO DEKKING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5544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Alle weekdagen (ma–vr)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Mooi weer &amp; regen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Zwaar onweer &amp; sneeuw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IJzel (vorst zonder sneeuw)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Schoolvakantie vs. schooltijd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Feestdag (geen pendel)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Vroege zomer, late herfst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›  Combinaties: ma + zware regen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4937760"/>
            <a:ext cx="329184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0" y="50292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THUISWERK-TRIGGER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3949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weather_risk ≥ 5
ÉN beide modi &gt; 90 min
→ Thuiswerken aanbevolen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C8A0"/>
                </a:solidFill>
                <a:latin typeface="Calibri"/>
              </a:rPr>
              <a:t>Sleutelinzichten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22960"/>
            <a:ext cx="11430000" cy="254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64008" cy="1554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Di &amp; do = slechtste dagen voor autorijden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35% en 33% boven vrije doorstroomtijd — menselijk rijgedrag, niet het weer.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64008" cy="155448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Sneeuw heeft buitensporige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1907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+25% reistijd — België heeft beperkte sneeuwruimcapaciteit buiten steden.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92608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926080"/>
            <a:ext cx="64008" cy="1554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35"/>
                </a:solidFill>
                <a:latin typeface="Calibri"/>
              </a:rPr>
              <a:t>Weer is NIET afhankelijk van weekdag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5643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Maandag is niet natter dan vrijdag. Verkeerspatronen = mensengedrag.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26080"/>
            <a:ext cx="64008" cy="1554480"/>
          </a:xfrm>
          <a:prstGeom prst="rect">
            <a:avLst/>
          </a:prstGeom>
          <a:solidFill>
            <a:srgbClr val="A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60FF"/>
                </a:solidFill>
                <a:latin typeface="Calibri"/>
              </a:rPr>
              <a:t>Trein is concurrentieel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5643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Op een significant deel werkdagen is de trein sneller dan de auto (zelfs met 10 min buffer).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66344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663440"/>
            <a:ext cx="64008" cy="1554480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75488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FF"/>
                </a:solidFill>
                <a:latin typeface="Calibri"/>
              </a:rPr>
              <a:t>Januari–februari &amp; nov–december = hoogste risicomaanden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19379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Beide vervoersmodi zijn tegelijk belast bij slechte weersomstandigheden.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663440"/>
            <a:ext cx="5486400" cy="155448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4663440"/>
            <a:ext cx="64008" cy="155448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75488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Juiste route: E17 → R1 → E19 via Antwerpen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93792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Niet de directe E40. Bevestigd door VC-gegevens die overeenkomen met GPS-aanbevelingen.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19"/>
            <a:ext cx="12188952" cy="73152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A0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gent_mechelen_commute_risk_forecast.ipynb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14884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Snelle Run cel uitvoeren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889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Laadt gecachede resultaten → toont backtest KPI's &amp; aanbevelingen direct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14884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7432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Dag-voorspelling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7889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Geef morgenochtend weersgegevens in → model geeft modus + vertrektijd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25196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25196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846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Risicokalender 2026–2027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9204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Heatmap van 'rode dagen' — ideaal voor langetermijnplanning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251960"/>
            <a:ext cx="5486400" cy="192024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251960"/>
            <a:ext cx="502920" cy="192024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81928" y="4846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389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50 Scenario's bekijken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89204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DC3"/>
                </a:solidFill>
                <a:latin typeface="Calibri"/>
              </a:rPr>
              <a:t>scenario_predictions.png — alle combinaties van weekdag × weer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7072" y="0"/>
            <a:ext cx="109728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A0"/>
                </a:solidFill>
                <a:latin typeface="Calibri"/>
              </a:rPr>
              <a:t>Conclusie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Van ruwe data
naar slimme pendelbeslissing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77440"/>
            <a:ext cx="45720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606040"/>
            <a:ext cx="8046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6 databronnen geïntegreerd in 1 pipeline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1 000+ Belgische werkdagen als trainingsdata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3 ML-modellen getraind &amp; geëvalueerd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50 realistische scenario's gedemonstreerd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FFFFFF"/>
                </a:solidFill>
                <a:latin typeface="Calibri"/>
              </a:rPr>
              <a:t>✓  Operationeel: geeft vertrekadvies de avond ervoor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914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  <a:latin typeface="Calibri"/>
              </a:rPr>
              <a:t>VERVOLGSTAPPEN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13716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Real-time forecast integratie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Push-notificatie 's ochtends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Uitbreiden naar andere trajecten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→  Live verkeersdata (DATEX 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9436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A0"/>
                </a:solidFill>
                <a:latin typeface="Calibri"/>
              </a:rPr>
              <a:t>Bedankt voor jullie aandacht!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