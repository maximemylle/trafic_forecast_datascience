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77" r:id="rId7"/>
    <p:sldId id="278" r:id="rId8"/>
    <p:sldId id="262" r:id="rId9"/>
    <p:sldId id="263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4F32A7-7687-43A2-8E63-FE78477D701A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6A65F8-DFC2-42DA-AA0F-D8093E8272D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4472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6A65F8-DFC2-42DA-AA0F-D8093E8272DA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11901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686800" y="0"/>
            <a:ext cx="3657600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914400"/>
            <a:ext cx="228600" cy="228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Gent → Mechelen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C8A0"/>
                </a:solidFill>
                <a:latin typeface="Calibri"/>
              </a:rPr>
              <a:t>Slimmer Pendelen met 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34640"/>
            <a:ext cx="502920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B9DC3"/>
                </a:solidFill>
                <a:latin typeface="Calibri"/>
              </a:rPr>
              <a:t>Auto · Trein · Thuiswerken — welke keuze is slim vandaag?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097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9280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2768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6609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383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DATUM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7490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23 juni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DC3"/>
                </a:solidFill>
                <a:latin typeface="Calibri"/>
              </a:rPr>
              <a:t>Syntra Mechelen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Wat willen we bereiken?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9DC3"/>
                </a:solidFill>
                <a:latin typeface="Calibri"/>
              </a:rPr>
              <a:t>Elke ochtend één vraag beantwoorden: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"Hoe kom ik vandaag het best naar Mechelen?"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2423160"/>
            <a:ext cx="35661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Calibri"/>
              </a:rPr>
              <a:t>🚗 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E17 → R1 ring → E19
via Antwerpen (~75 km)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423160"/>
            <a:ext cx="3566160" cy="54864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🚆  TREIN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6324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Gent-Sint-Pieters → Mechelen
~58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2423160"/>
            <a:ext cx="3566160" cy="54864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9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2D4E"/>
                </a:solidFill>
                <a:latin typeface="Calibri"/>
              </a:rPr>
              <a:t>🏠  THUISWERKEN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Wanneer geen enkele modus
betrouwbaar genoeg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06440"/>
            <a:ext cx="11338560" cy="6858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8B9DC3"/>
                </a:solidFill>
                <a:latin typeface="Calibri"/>
              </a:rPr>
              <a:t>📅  Scope: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Belgische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werkdagen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van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januari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2021 tot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heden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 ·  Data start in 2021 om COVID-lockdown (2020)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te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vermijden</a:t>
            </a:r>
            <a:endParaRPr sz="1300" b="0" i="0" dirty="0">
              <a:solidFill>
                <a:srgbClr val="8B9DC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822960" y="5687568"/>
            <a:ext cx="10515600" cy="36576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Team &amp; Taakverdeling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20040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Verkeersdata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Vlaams Verkeercentrum
(reistijd E17→R1→E19)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188720"/>
            <a:ext cx="2743200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320040" cy="3200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Treindata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Infrabel punctualiteits-
geschiedenis 2021–2026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188720"/>
            <a:ext cx="2743200" cy="73152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55080" y="1371600"/>
            <a:ext cx="320040" cy="32004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Weerdata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Open-Meteo Archive API
(uurlijks, 2021–heden)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371600"/>
            <a:ext cx="320040" cy="32004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Coördinatie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Mockup project + pipeline
structuur &amp; opzet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TIJDLIJN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430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02/06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Taakver-
deling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862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09/06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Teams-
vergadering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16/06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Alignering +
presentatie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726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23/06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Presentatie
Syntra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6 Databronnen — Overzicht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Open-Meteo
Archief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Weerdata uurlijks
2021 → heden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Gratis · geen API-sleutel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16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holidays
(Python pkg)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Belgische feestdagen
2021 – 2028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Ingebouwde dataset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143000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7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39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iRail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39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NMBS-verbindingen
(schema, fallback)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39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Gratis · open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Infrabel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Echte treinpunctualiteit
48 maanden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data.gov.be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80" y="3749039"/>
            <a:ext cx="502920" cy="233172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616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Vrije doorstroomtijd
auto (referentie)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60FF"/>
                </a:solidFill>
                <a:latin typeface="Calibri"/>
              </a:rPr>
              <a:t>OpenStreetMap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3749039"/>
            <a:ext cx="502920" cy="233172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47887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39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Vlaams
Verkeercentrum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39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Gemeten reistijden
E17 → R1 → E19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39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99FF"/>
                </a:solidFill>
                <a:latin typeface="Calibri"/>
              </a:rPr>
              <a:t>indicatoren.verkeers-
centrum.be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1: Weerdata — Open-Meteo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5720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Gratis API, geen registratie nodig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Uurlijkse data terug tot 1940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Locatie: Mechelen (aankomststad)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Venster: 06:00–09:00 (pendeltijd)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Samengevat per dag: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rain_total / rain_peak  (neerslag)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wind_peak / wind_mean   (wind)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5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temp_min / temp_mean    (temperatuur)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humidity_max            (mist-proxy)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snow_total              (sneeuwval)</a:t>
            </a:r>
          </a:p>
        </p:txBody>
      </p:sp>
      <p:pic>
        <p:nvPicPr>
          <p:cNvPr id="13" name="Picture 12" descr="plot_weath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097280"/>
            <a:ext cx="6766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23F6D-30EB-ECE0-370B-D96A17BD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40B76F-A516-7A6D-FFF2-B3D440A2E30E}"/>
              </a:ext>
            </a:extLst>
          </p:cNvPr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 tijdens het Pendelvenster (06:00–09:00)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37DCAD-2334-F41A-CD0F-02C913021A86}"/>
              </a:ext>
            </a:extLst>
          </p:cNvPr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lot_commute_window_weather.png">
            <a:extLst>
              <a:ext uri="{FF2B5EF4-FFF2-40B4-BE49-F238E27FC236}">
                <a16:creationId xmlns:a16="http://schemas.microsoft.com/office/drawing/2014/main" id="{EBEE6206-DAD7-4CB5-FDB3-8619852C4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493776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EE5A11F-1705-F0C7-529A-07BEC2D0A032}"/>
              </a:ext>
            </a:extLst>
          </p:cNvPr>
          <p:cNvSpPr/>
          <p:nvPr/>
        </p:nvSpPr>
        <p:spPr>
          <a:xfrm>
            <a:off x="7955279" y="1097280"/>
            <a:ext cx="3931920" cy="49377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816D92-7B9B-4192-8D70-B241A6D3D73A}"/>
              </a:ext>
            </a:extLst>
          </p:cNvPr>
          <p:cNvSpPr txBox="1"/>
          <p:nvPr/>
        </p:nvSpPr>
        <p:spPr>
          <a:xfrm>
            <a:off x="8138160" y="250475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A0"/>
                </a:solidFill>
                <a:latin typeface="Calibri"/>
              </a:rPr>
              <a:t>INZICHT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C880A-A944-F068-AC9C-415532778962}"/>
              </a:ext>
            </a:extLst>
          </p:cNvPr>
          <p:cNvSpPr txBox="1"/>
          <p:nvPr/>
        </p:nvSpPr>
        <p:spPr>
          <a:xfrm>
            <a:off x="8138160" y="3073717"/>
            <a:ext cx="3657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nl-NL" sz="1300" dirty="0">
                <a:solidFill>
                  <a:srgbClr val="FFFFFF"/>
                </a:solidFill>
                <a:latin typeface="Calibri"/>
              </a:rPr>
              <a:t>Raar maar waar, het is slecht weer in de herfst en winter.</a:t>
            </a:r>
            <a:endParaRPr sz="1300" b="0" i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74592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AC90AD-697B-727B-49C5-B159C59F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4CC7C4-913F-6CEF-408A-D0C67E8B71DD}"/>
              </a:ext>
            </a:extLst>
          </p:cNvPr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 tijdens het Pendelvenster (06:00–09:00)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C063A7-2FAB-DC7D-E3F3-36CC9548B689}"/>
              </a:ext>
            </a:extLst>
          </p:cNvPr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6D3D80-29B0-E6E2-E391-A5F5C6C2A1DC}"/>
              </a:ext>
            </a:extLst>
          </p:cNvPr>
          <p:cNvSpPr txBox="1"/>
          <p:nvPr/>
        </p:nvSpPr>
        <p:spPr>
          <a:xfrm>
            <a:off x="81381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INZICHT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953EC4-B183-AF49-BBD7-7C6766E818F8}"/>
              </a:ext>
            </a:extLst>
          </p:cNvPr>
          <p:cNvSpPr/>
          <p:nvPr/>
        </p:nvSpPr>
        <p:spPr>
          <a:xfrm>
            <a:off x="393064" y="4264939"/>
            <a:ext cx="4172799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BD998-2334-8C44-1AE1-761ADE744006}"/>
              </a:ext>
            </a:extLst>
          </p:cNvPr>
          <p:cNvSpPr txBox="1"/>
          <p:nvPr/>
        </p:nvSpPr>
        <p:spPr>
          <a:xfrm>
            <a:off x="650663" y="4530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6B35"/>
                </a:solidFill>
                <a:latin typeface="Calibri"/>
              </a:rPr>
              <a:t>INZICHT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228623-FAD5-CC33-8458-97EEA299FBC0}"/>
              </a:ext>
            </a:extLst>
          </p:cNvPr>
          <p:cNvSpPr txBox="1"/>
          <p:nvPr/>
        </p:nvSpPr>
        <p:spPr>
          <a:xfrm>
            <a:off x="650663" y="5115997"/>
            <a:ext cx="3657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nl-NL" sz="1300" dirty="0">
                <a:solidFill>
                  <a:srgbClr val="FFFFFF"/>
                </a:solidFill>
                <a:latin typeface="Calibri"/>
              </a:rPr>
              <a:t>Nog opvallender, het weer hangt niet af van de dag van de week!</a:t>
            </a:r>
            <a:endParaRPr sz="1300" b="0" i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1" name="Picture 10" descr="plot_weather_by_weekday.png">
            <a:extLst>
              <a:ext uri="{FF2B5EF4-FFF2-40B4-BE49-F238E27FC236}">
                <a16:creationId xmlns:a16="http://schemas.microsoft.com/office/drawing/2014/main" id="{8F4C1146-C780-C931-135A-FC0365284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16371"/>
            <a:ext cx="10994502" cy="281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85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2: Belgische Werkdagenkalender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2239340"/>
            <a:ext cx="3809791" cy="2973679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24239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0C8A0"/>
                </a:solidFill>
                <a:latin typeface="Calibri"/>
              </a:rPr>
              <a:t>holidays Python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75809"/>
            <a:ext cx="448056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2021 – 2028 (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ook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toekomst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voor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forecasts)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is_workday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ma–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vr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EN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geen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feestdag</a:t>
            </a:r>
            <a:endParaRPr sz="14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is_school_holiday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juli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&amp;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augustus</a:t>
            </a:r>
            <a:endParaRPr sz="14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Seizoen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meteorologisch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(DJF/MAM/JJA/SON)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79" y="5384726"/>
            <a:ext cx="3809791" cy="6858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5605082"/>
            <a:ext cx="466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D1B2A"/>
                </a:solidFill>
                <a:latin typeface="Calibri"/>
              </a:rPr>
              <a:t>💡  Mei </a:t>
            </a:r>
            <a:r>
              <a:rPr lang="nl-NL" sz="1200" b="1" dirty="0">
                <a:solidFill>
                  <a:srgbClr val="0D1B2A"/>
                </a:solidFill>
                <a:latin typeface="Calibri"/>
              </a:rPr>
              <a:t>heeft de meeste feestdagen</a:t>
            </a:r>
            <a:endParaRPr sz="1200" b="1" i="0" dirty="0">
              <a:solidFill>
                <a:srgbClr val="0D1B2A"/>
              </a:solidFill>
              <a:latin typeface="Calibri"/>
            </a:endParaRPr>
          </a:p>
        </p:txBody>
      </p:sp>
      <p:pic>
        <p:nvPicPr>
          <p:cNvPr id="13" name="Afbeelding 12">
            <a:extLst>
              <a:ext uri="{FF2B5EF4-FFF2-40B4-BE49-F238E27FC236}">
                <a16:creationId xmlns:a16="http://schemas.microsoft.com/office/drawing/2014/main" id="{95331747-5959-AD88-1155-D5E9BFBB2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691" y="2239340"/>
            <a:ext cx="7734822" cy="29736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3">
            <a:extLst>
              <a:ext uri="{FF2B5EF4-FFF2-40B4-BE49-F238E27FC236}">
                <a16:creationId xmlns:a16="http://schemas.microsoft.com/office/drawing/2014/main" id="{EF019327-4E71-AAE1-8DEC-280145448690}"/>
              </a:ext>
            </a:extLst>
          </p:cNvPr>
          <p:cNvSpPr/>
          <p:nvPr/>
        </p:nvSpPr>
        <p:spPr>
          <a:xfrm>
            <a:off x="8244453" y="4167028"/>
            <a:ext cx="3670052" cy="22063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9270ACD8-AA22-96E2-B055-E823A450ABC2}"/>
              </a:ext>
            </a:extLst>
          </p:cNvPr>
          <p:cNvSpPr/>
          <p:nvPr/>
        </p:nvSpPr>
        <p:spPr>
          <a:xfrm>
            <a:off x="2832359" y="4194460"/>
            <a:ext cx="5247779" cy="22063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11480" y="256032"/>
            <a:ext cx="11338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 err="1">
                <a:solidFill>
                  <a:srgbClr val="00C8A0"/>
                </a:solidFill>
                <a:latin typeface="Calibri"/>
              </a:rPr>
              <a:t>Databron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lang="nl-NL" sz="3000" b="1" i="0" dirty="0">
                <a:solidFill>
                  <a:srgbClr val="00C8A0"/>
                </a:solidFill>
                <a:latin typeface="Calibri"/>
              </a:rPr>
              <a:t>3 &amp; 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4: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Echte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Treindata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— Infrabel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194460"/>
            <a:ext cx="2256564" cy="22063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42364" y="424389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6B35"/>
                </a:solidFill>
                <a:latin typeface="Calibri"/>
              </a:rPr>
              <a:t>Waarom</a:t>
            </a:r>
            <a:r>
              <a:rPr sz="1400" b="1" i="0" dirty="0">
                <a:solidFill>
                  <a:srgbClr val="FF6B35"/>
                </a:solidFill>
                <a:latin typeface="Calibri"/>
              </a:rPr>
              <a:t> Infrabel </a:t>
            </a:r>
            <a:r>
              <a:rPr sz="1400" b="1" i="0" dirty="0" err="1">
                <a:solidFill>
                  <a:srgbClr val="FF6B35"/>
                </a:solidFill>
                <a:latin typeface="Calibri"/>
              </a:rPr>
              <a:t>en</a:t>
            </a:r>
            <a:r>
              <a:rPr sz="1400" b="1" i="0" dirty="0">
                <a:solidFill>
                  <a:srgbClr val="FF6B35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6B35"/>
                </a:solidFill>
                <a:latin typeface="Calibri"/>
              </a:rPr>
              <a:t>niet</a:t>
            </a:r>
            <a:r>
              <a:rPr sz="1400" b="1" i="0" dirty="0">
                <a:solidFill>
                  <a:srgbClr val="FF6B35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6B35"/>
                </a:solidFill>
                <a:latin typeface="Calibri"/>
              </a:rPr>
              <a:t>iRail</a:t>
            </a:r>
            <a:r>
              <a:rPr sz="1400" b="1" i="0" dirty="0">
                <a:solidFill>
                  <a:srgbClr val="FF6B35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745069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8B9DC3"/>
                </a:solidFill>
                <a:latin typeface="Calibri"/>
              </a:rPr>
              <a:t>iRail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= real-time/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toekomst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—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geen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meerjarige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vertragingshistorie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.
Infrabel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publiceert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de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échte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aankomst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-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vertrektijden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per stop, per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trein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elke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8B9DC3"/>
                </a:solidFill>
                <a:latin typeface="Calibri"/>
              </a:rPr>
              <a:t>dag</a:t>
            </a:r>
            <a:r>
              <a:rPr sz="1300" b="0" i="0" dirty="0">
                <a:solidFill>
                  <a:srgbClr val="8B9DC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6769" y="4572000"/>
            <a:ext cx="475488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lang="nl-NL" sz="1300" dirty="0">
                <a:solidFill>
                  <a:srgbClr val="FFFFFF"/>
                </a:solidFill>
                <a:latin typeface="Calibri"/>
              </a:rPr>
              <a:t>Data in CSV per maand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(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jan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2021 –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apr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2026)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Filter: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vertrekken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uit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Gent-Sint-Pieters 06–09h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Join: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aankomst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in Mechelen op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zelfde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trein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Dagelijks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geaggregeerd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(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mediaan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per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dag</a:t>
            </a:r>
            <a:r>
              <a:rPr sz="130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532" y="423644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0C8A0"/>
                </a:solidFill>
                <a:latin typeface="Calibri"/>
              </a:rPr>
              <a:t>Kolommen</a:t>
            </a:r>
            <a:r>
              <a:rPr sz="1200" b="1" i="0" dirty="0">
                <a:solidFill>
                  <a:srgbClr val="00C8A0"/>
                </a:solidFill>
                <a:latin typeface="Calibri"/>
              </a:rPr>
              <a:t> per </a:t>
            </a:r>
            <a:r>
              <a:rPr sz="1200" b="1" i="0" dirty="0" err="1">
                <a:solidFill>
                  <a:srgbClr val="00C8A0"/>
                </a:solidFill>
                <a:latin typeface="Calibri"/>
              </a:rPr>
              <a:t>dag</a:t>
            </a:r>
            <a:r>
              <a:rPr sz="1200" b="1" i="0" dirty="0">
                <a:solidFill>
                  <a:srgbClr val="00C8A0"/>
                </a:solidFill>
                <a:latin typeface="Calibri"/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0347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train_planned_journey_min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412" y="48930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7C59F"/>
                </a:solidFill>
                <a:latin typeface="Calibri"/>
              </a:rPr>
              <a:t>  › </a:t>
            </a:r>
            <a:r>
              <a:rPr sz="1100" b="0" i="0" dirty="0" err="1">
                <a:solidFill>
                  <a:srgbClr val="F7C59F"/>
                </a:solidFill>
                <a:latin typeface="Calibri"/>
              </a:rPr>
              <a:t>train_actual_journey_min</a:t>
            </a:r>
            <a:endParaRPr sz="1100" b="0" i="0" dirty="0">
              <a:solidFill>
                <a:srgbClr val="F7C59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4412" y="52296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7C59F"/>
                </a:solidFill>
                <a:latin typeface="Calibri"/>
              </a:rPr>
              <a:t>  › </a:t>
            </a:r>
            <a:r>
              <a:rPr sz="1100" b="0" i="0" dirty="0" err="1">
                <a:solidFill>
                  <a:srgbClr val="F7C59F"/>
                </a:solidFill>
                <a:latin typeface="Calibri"/>
              </a:rPr>
              <a:t>train_delay_arr_median_s</a:t>
            </a:r>
            <a:endParaRPr sz="1100" b="0" i="0" dirty="0">
              <a:solidFill>
                <a:srgbClr val="F7C59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556213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7C59F"/>
                </a:solidFill>
                <a:latin typeface="Calibri"/>
              </a:rPr>
              <a:t>  › </a:t>
            </a:r>
            <a:r>
              <a:rPr sz="1100" b="0" i="0" dirty="0" err="1">
                <a:solidFill>
                  <a:srgbClr val="F7C59F"/>
                </a:solidFill>
                <a:latin typeface="Calibri"/>
              </a:rPr>
              <a:t>train_on_time_pct</a:t>
            </a:r>
            <a:endParaRPr sz="1100" b="0" i="0" dirty="0">
              <a:solidFill>
                <a:srgbClr val="F7C59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4363" y="589459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7C59F"/>
                </a:solidFill>
                <a:latin typeface="Calibri"/>
              </a:rPr>
              <a:t>  › </a:t>
            </a:r>
            <a:r>
              <a:rPr sz="1100" b="0" i="0" dirty="0" err="1">
                <a:solidFill>
                  <a:srgbClr val="F7C59F"/>
                </a:solidFill>
                <a:latin typeface="Calibri"/>
              </a:rPr>
              <a:t>train_cancelled_pct</a:t>
            </a:r>
            <a:endParaRPr sz="1100" b="0" i="0" dirty="0">
              <a:solidFill>
                <a:srgbClr val="F7C59F"/>
              </a:solidFill>
              <a:latin typeface="Calibri"/>
            </a:endParaRP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F29F6AAD-36B5-7405-C367-F501F0AA1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99016"/>
            <a:ext cx="11503025" cy="3047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 err="1">
                <a:solidFill>
                  <a:srgbClr val="00C8A0"/>
                </a:solidFill>
                <a:latin typeface="Calibri"/>
              </a:rPr>
              <a:t>Databron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5</a:t>
            </a:r>
            <a:r>
              <a:rPr lang="nl-NL" sz="30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+</a:t>
            </a:r>
            <a:r>
              <a:rPr lang="nl-NL" sz="30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6: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Autorijdata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— OSRM +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Vlaams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Verkeercentrum</a:t>
            </a:r>
            <a:endParaRPr sz="3000" b="1" i="0" dirty="0">
              <a:solidFill>
                <a:srgbClr val="00C8A0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1338560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Route: E17/A14 (Gent → Antwerpen)  ›  R1 buitenring  ›  E19/A1 (Antwerpen → Mechelen)  ·  ~75 km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94560"/>
            <a:ext cx="3474720" cy="3931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OSRM (referentie)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20863"/>
            <a:ext cx="320040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endParaRPr sz="12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Vermenigvuldigd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met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weekdag</a:t>
            </a:r>
            <a:r>
              <a:rPr sz="1200" dirty="0">
                <a:solidFill>
                  <a:srgbClr val="FFFFFF"/>
                </a:solidFill>
                <a:latin typeface="Calibri"/>
              </a:rPr>
              <a:t>-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weerfactor</a:t>
            </a:r>
            <a:endParaRPr sz="12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Enkel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gebruikt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als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historische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referentie</a:t>
            </a:r>
            <a:endParaRPr sz="12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Vlaams Verkeercentrum (primair)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320040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Echte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gemeten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reistijden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per 5-min slot</a:t>
            </a:r>
          </a:p>
          <a:p>
            <a:pPr algn="l">
              <a:spcBef>
                <a:spcPts val="400"/>
              </a:spcBef>
            </a:pPr>
            <a:r>
              <a:rPr sz="1200" dirty="0">
                <a:solidFill>
                  <a:srgbClr val="FFFFFF"/>
                </a:solidFill>
                <a:latin typeface="Calibri"/>
              </a:rPr>
              <a:t>›  </a:t>
            </a:r>
            <a:r>
              <a:rPr sz="1200" dirty="0" err="1">
                <a:solidFill>
                  <a:srgbClr val="FFFFFF"/>
                </a:solidFill>
                <a:latin typeface="Calibri"/>
              </a:rPr>
              <a:t>Maandgemiddelde</a:t>
            </a:r>
            <a:r>
              <a:rPr sz="1200" dirty="0">
                <a:solidFill>
                  <a:srgbClr val="FFFFFF"/>
                </a:solidFill>
                <a:latin typeface="Calibri"/>
              </a:rPr>
              <a:t> 06:00–09:55</a:t>
            </a:r>
          </a:p>
          <a:p>
            <a:pPr algn="l">
              <a:spcBef>
                <a:spcPts val="400"/>
              </a:spcBef>
            </a:pPr>
            <a:endParaRPr sz="120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5" name="Afbeelding 14">
            <a:extLst>
              <a:ext uri="{FF2B5EF4-FFF2-40B4-BE49-F238E27FC236}">
                <a16:creationId xmlns:a16="http://schemas.microsoft.com/office/drawing/2014/main" id="{0DFCD0CC-094E-9156-99B5-CABA8927F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2194560"/>
            <a:ext cx="779970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nl-NL" sz="3000" b="1" i="0" dirty="0">
                <a:solidFill>
                  <a:srgbClr val="00C8A0"/>
                </a:solidFill>
                <a:latin typeface="Calibri"/>
              </a:rPr>
              <a:t>Verdere verwerking: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Weerrisicoscore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per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Maand</a:t>
            </a:r>
            <a:r>
              <a:rPr sz="3000" b="1" i="0" dirty="0">
                <a:solidFill>
                  <a:srgbClr val="00C8A0"/>
                </a:solidFill>
                <a:latin typeface="Calibri"/>
              </a:rPr>
              <a:t> × </a:t>
            </a:r>
            <a:r>
              <a:rPr sz="3000" b="1" i="0" dirty="0" err="1">
                <a:solidFill>
                  <a:srgbClr val="00C8A0"/>
                </a:solidFill>
                <a:latin typeface="Calibri"/>
              </a:rPr>
              <a:t>Weekdag</a:t>
            </a:r>
            <a:endParaRPr sz="3000" b="1" i="0" dirty="0">
              <a:solidFill>
                <a:srgbClr val="00C8A0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708595" y="1912524"/>
            <a:ext cx="2310127" cy="3475021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29174" y="220042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A0"/>
                </a:solidFill>
                <a:latin typeface="Calibri"/>
              </a:rPr>
              <a:t>SAMENGESTELDE RISICOSCORE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8595" y="2566184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regen ≥ 2 mm   → +2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punten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wind ≥ 45 km/h → +2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punten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vorst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≤ 0°C    → +1 punt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sneeuw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&gt; 0 cm  → +3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punten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vochtig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≥ 97%  → +1 punt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─────────────────────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 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Totaal</a:t>
            </a:r>
            <a:r>
              <a:rPr sz="1300" dirty="0">
                <a:solidFill>
                  <a:srgbClr val="FFFFFF"/>
                </a:solidFill>
                <a:latin typeface="Calibri"/>
              </a:rPr>
              <a:t>: 0–9</a:t>
            </a:r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E8D9EA09-F0E1-0F11-255D-495141B7A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72" y="1912524"/>
            <a:ext cx="9155967" cy="34750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0C8A0"/>
                </a:solidFill>
                <a:latin typeface="Calibri"/>
              </a:rPr>
              <a:t>Data Pipeline — </a:t>
            </a:r>
            <a:r>
              <a:rPr lang="nl-NL" sz="3000" b="1" dirty="0">
                <a:solidFill>
                  <a:srgbClr val="00C8A0"/>
                </a:solidFill>
                <a:latin typeface="Calibri"/>
              </a:rPr>
              <a:t>Bronnen samenbrengen tot 1 dataframe </a:t>
            </a:r>
            <a:endParaRPr sz="3000" b="1" i="0" dirty="0">
              <a:solidFill>
                <a:srgbClr val="00C8A0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1920240" cy="82296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Open-Meteo
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6032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iRail / Infrabel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Vlaams VC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34440"/>
            <a:ext cx="1920240" cy="82296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234440"/>
            <a:ext cx="1920240" cy="82296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holidays
pkg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A0"/>
                </a:solidFill>
                <a:latin typeface="Calibri"/>
              </a:rPr>
              <a:t>↓  build_combined_df()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834640"/>
            <a:ext cx="7498079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286000" y="2834640"/>
            <a:ext cx="7498079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77440" y="29260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combined_workdays_features.csv  —  1 rij per Belgische werkdag, 2021 → heden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AFGELEIDE KOLOMMEN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weather_risk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0–9 samengestelde risicoscore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936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car_vc_est_min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VC-basis × weekdag × weerFactor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car_est_min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OSRM × weekdag × weerFactor (ref)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car_faster_than_train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binary target: 1 als auto sneller + 10 min buffer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Machine Learning — Aanpak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3566160" cy="43891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566160" cy="64008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DC3"/>
                </a:solidFill>
                <a:latin typeface="Calibri"/>
              </a:rPr>
              <a:t>Model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Lineaire
Regressie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Eenvoudigste model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Referentielijn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Interpreteerbare coëfficiënten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291840" cy="36576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B9DC3"/>
                </a:solidFill>
                <a:latin typeface="Calibri"/>
              </a:rPr>
              <a:t>Baseline — wat is de auto-reistijd?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97280"/>
            <a:ext cx="3566160" cy="43891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56616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Regressor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300 beslisbomen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Niet-lineaire verbanden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Wisselwerking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846320"/>
            <a:ext cx="3291840" cy="36576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C8A0"/>
                </a:solidFill>
                <a:latin typeface="Calibri"/>
              </a:rPr>
              <a:t>Verbeterd — exactere reistijdschatting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097280"/>
            <a:ext cx="3566160" cy="43891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5661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9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Model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Binary uitvoer: auto of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class_weight='balanced'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Geeft ook zekerheids-%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4846320"/>
            <a:ext cx="32918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59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35"/>
                </a:solidFill>
                <a:latin typeface="Calibri"/>
              </a:rPr>
              <a:t>Beslissing — auto of trein?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59" y="5806440"/>
            <a:ext cx="11338560" cy="2286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577486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B9DC3"/>
                </a:solidFill>
                <a:latin typeface="Calibri"/>
              </a:rPr>
              <a:t>Train/test split: 80% / 20%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chronologisch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(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geen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shuffle) —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tijdreeksdata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mag de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toekomst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niet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'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zien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Features — Wat het Model Ziet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WEER (06–09H VENSTER)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rain_total   — totale neerslag (mm)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rain_peak    — maximale neerslagintensiteit (mm/u)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wind_peak    — sterkste windstoot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wind_mean    — gemiddelde windsnelheid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temp_min     — koudste 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temp_mean    — gemiddelde temperatuur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humidity_max — piekluivochtigheid (mistproxy, %)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snow_total   — totale sneeuwval (cm)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KALENDER &amp;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weekday_num    — 0=ma … 4=vr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month          — 1–12 (seizoenaliteit)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is_mon         — maandagopbouw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is_tue_thu     — piekmomenten di/do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is_fri         — lichte vrijdagochtend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is_school_holiday — zomer (licht verkeer)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weather_risk   — samengestelde score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32" y="4454167"/>
            <a:ext cx="11338560" cy="1143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07" y="4454167"/>
            <a:ext cx="73152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875" y="4897238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Alle 15 features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zijn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avond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vóór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rit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beschikbaar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via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een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weersforecast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Modelresultaten &amp; Evaluatie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odel_e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7772400" cy="548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66760" y="1051560"/>
            <a:ext cx="3566160" cy="24231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4964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EVALUATIEMAATSTAVEN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508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Gemiddelde afwijking in minuten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9967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5480" y="202996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Straft grote fouten zwaarder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511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5511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1.0 = perfect · 0.0 = geen beter dan gemiddelde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0723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5-fold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30723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8B9DC3"/>
                </a:solidFill>
                <a:latin typeface="Calibri"/>
              </a:rPr>
              <a:t>Betrouwbaardere</a:t>
            </a:r>
            <a:r>
              <a:rPr sz="11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B9DC3"/>
                </a:solidFill>
                <a:latin typeface="Calibri"/>
              </a:rPr>
              <a:t>generalisatie-schatting</a:t>
            </a:r>
            <a:endParaRPr sz="1100" b="0" i="0" dirty="0">
              <a:solidFill>
                <a:srgbClr val="8B9DC3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366760" y="3657600"/>
            <a:ext cx="356616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9640" y="374903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BUSINESS VRAGEN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11480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Hoe vaak juiste modus gekozen?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Risico te laat aankomen om 09:00?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Gem. buffer bij aankomst?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50 Scenario Voorspellingen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enario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8046720" cy="5577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41080" y="1051560"/>
            <a:ext cx="3291840" cy="5577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2396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SCENARIO DEKKING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5544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Alle weekdagen (ma–vr)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Mooi weer &amp; regen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Zwaar onweer &amp; sneeuw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IJzel (vorst zonder sneeuw)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Schoolvakantie vs. schooltijd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Feestdag (geen pendel)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Vroege zomer, late herfst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Combinaties: ma + zware regen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4937760"/>
            <a:ext cx="329184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23960" y="50292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THUISWERK-TRIGGER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3949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weather_risk ≥ 5
ÉN beide modi &gt; 90 min
→ Thuiswerken aanbevolen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Sleutelinzichten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Ma &amp; do = slechtste dagen voor autorijden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166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B9DC3"/>
                </a:solidFill>
                <a:latin typeface="Calibri"/>
              </a:rPr>
              <a:t>~18%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en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~17%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boven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vrije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doorstroomtijd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—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menselijk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rijgedrag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niet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het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weer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00C8A0"/>
                </a:solidFill>
                <a:latin typeface="Calibri"/>
              </a:rPr>
              <a:t>Zware</a:t>
            </a:r>
            <a:r>
              <a:rPr sz="1400" b="1" i="0" dirty="0">
                <a:solidFill>
                  <a:srgbClr val="00C8A0"/>
                </a:solidFill>
                <a:latin typeface="Calibri"/>
              </a:rPr>
              <a:t> regen: de </a:t>
            </a:r>
            <a:r>
              <a:rPr sz="1400" b="1" i="0" dirty="0" err="1">
                <a:solidFill>
                  <a:srgbClr val="00C8A0"/>
                </a:solidFill>
                <a:latin typeface="Calibri"/>
              </a:rPr>
              <a:t>grootste</a:t>
            </a:r>
            <a:r>
              <a:rPr sz="1400" b="1" i="0" dirty="0">
                <a:solidFill>
                  <a:srgbClr val="00C8A0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0C8A0"/>
                </a:solidFill>
                <a:latin typeface="Calibri"/>
              </a:rPr>
              <a:t>weerimpact</a:t>
            </a:r>
            <a:r>
              <a:rPr sz="1400" b="1" i="0" dirty="0">
                <a:solidFill>
                  <a:srgbClr val="00C8A0"/>
                </a:solidFill>
                <a:latin typeface="Calibri"/>
              </a:rPr>
              <a:t> op </a:t>
            </a:r>
            <a:r>
              <a:rPr sz="1400" b="1" i="0" dirty="0" err="1">
                <a:solidFill>
                  <a:srgbClr val="00C8A0"/>
                </a:solidFill>
                <a:latin typeface="Calibri"/>
              </a:rPr>
              <a:t>autoverkeer</a:t>
            </a:r>
            <a:endParaRPr sz="1400" b="1" i="0" dirty="0">
              <a:solidFill>
                <a:srgbClr val="00C8A0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5166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B9DC3"/>
                </a:solidFill>
                <a:latin typeface="Calibri"/>
              </a:rPr>
              <a:t>+12%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reistijd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bij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piekintensiteit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≥ 5 mm/u —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lichte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regen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slechts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+3–4%.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926080"/>
            <a:ext cx="64008" cy="155448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Trein is concurrentieel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 een significant deel werkdagen is de trein sneller dan de auto (zelfs met 10 min buffer).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0497" y="2926080"/>
            <a:ext cx="64008" cy="155448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522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99FF"/>
                </a:solidFill>
                <a:latin typeface="Calibri"/>
              </a:rPr>
              <a:t>Januari–</a:t>
            </a:r>
            <a:r>
              <a:rPr sz="1400" b="1" i="0" dirty="0" err="1">
                <a:solidFill>
                  <a:srgbClr val="0099FF"/>
                </a:solidFill>
                <a:latin typeface="Calibri"/>
              </a:rPr>
              <a:t>februari</a:t>
            </a:r>
            <a:r>
              <a:rPr sz="1400" b="1" i="0" dirty="0">
                <a:solidFill>
                  <a:srgbClr val="0099FF"/>
                </a:solidFill>
                <a:latin typeface="Calibri"/>
              </a:rPr>
              <a:t> &amp; </a:t>
            </a:r>
            <a:r>
              <a:rPr sz="1400" b="1" i="0" dirty="0" err="1">
                <a:solidFill>
                  <a:srgbClr val="0099FF"/>
                </a:solidFill>
                <a:latin typeface="Calibri"/>
              </a:rPr>
              <a:t>nov</a:t>
            </a:r>
            <a:r>
              <a:rPr sz="1400" b="1" i="0" dirty="0">
                <a:solidFill>
                  <a:srgbClr val="0099FF"/>
                </a:solidFill>
                <a:latin typeface="Calibri"/>
              </a:rPr>
              <a:t>–</a:t>
            </a:r>
            <a:r>
              <a:rPr sz="1400" b="1" i="0" dirty="0" err="1">
                <a:solidFill>
                  <a:srgbClr val="0099FF"/>
                </a:solidFill>
                <a:latin typeface="Calibri"/>
              </a:rPr>
              <a:t>december</a:t>
            </a:r>
            <a:r>
              <a:rPr sz="1400" b="1" i="0" dirty="0">
                <a:solidFill>
                  <a:srgbClr val="0099FF"/>
                </a:solidFill>
                <a:latin typeface="Calibri"/>
              </a:rPr>
              <a:t> = </a:t>
            </a:r>
            <a:r>
              <a:rPr sz="1400" b="1" i="0" dirty="0" err="1">
                <a:solidFill>
                  <a:srgbClr val="0099FF"/>
                </a:solidFill>
                <a:latin typeface="Calibri"/>
              </a:rPr>
              <a:t>hoogste</a:t>
            </a:r>
            <a:r>
              <a:rPr sz="1400" b="1" i="0" dirty="0">
                <a:solidFill>
                  <a:srgbClr val="0099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099FF"/>
                </a:solidFill>
                <a:latin typeface="Calibri"/>
              </a:rPr>
              <a:t>risicomaanden</a:t>
            </a:r>
            <a:endParaRPr sz="1400" b="1" i="0" dirty="0">
              <a:solidFill>
                <a:srgbClr val="0099FF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3522" y="3429000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8B9DC3"/>
                </a:solidFill>
                <a:latin typeface="Calibri"/>
              </a:rPr>
              <a:t>Beide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vervoersmodi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zijn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tegelijk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belast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bij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slechte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B9DC3"/>
                </a:solidFill>
                <a:latin typeface="Calibri"/>
              </a:rPr>
              <a:t>weersomstandigheden</a:t>
            </a:r>
            <a:r>
              <a:rPr sz="1200" b="0" i="0" dirty="0">
                <a:solidFill>
                  <a:srgbClr val="8B9DC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88952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A0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gent_mechelen_commute_risk_forecast.ipynb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Snelle Run cel uitvoeren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Laadt gecachede resultaten → toont backtest KPI's &amp; aanbevelingen direct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8192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Dag-voorspelling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Geef morgenochtend weersgegevens in → model geeft modus + vertrektijd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Risicokalender 2026–2027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Heatmap van 'rode dagen' — ideaal voor langetermijnplanning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8192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50 Scenario's bekijken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scenario_predictions.png — alle combinaties van weekdag × weer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7072" y="0"/>
            <a:ext cx="109728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Conclusie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Van ruwe data
naar slimme pendelbeslissing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77440"/>
            <a:ext cx="4572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6 databronnen geïntegreerd in 1 pipeline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1 000+ Belgische werkdagen als trainingsdata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3 ML-modellen getraind &amp; geëvalueerd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50 realistische scenario's gedemonstreerd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Operationeel: geeft vertrekadvies de avond ervoor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914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6B35"/>
                </a:solidFill>
                <a:latin typeface="Calibri"/>
              </a:rPr>
              <a:t>VERVOLGSTAPPEN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3716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→  Real-time forecast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integratie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→  Push-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notificatie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's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ochtends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→ 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Uitbreiden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naar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andere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trajecten</a:t>
            </a:r>
            <a:endParaRPr sz="1300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  <a:latin typeface="Calibri"/>
              </a:rPr>
              <a:t>→  Live </a:t>
            </a:r>
            <a:r>
              <a:rPr sz="1300" dirty="0" err="1">
                <a:solidFill>
                  <a:srgbClr val="FFFFFF"/>
                </a:solidFill>
                <a:latin typeface="Calibri"/>
              </a:rPr>
              <a:t>verkeersdata</a:t>
            </a:r>
            <a:r>
              <a:rPr sz="1300" dirty="0">
                <a:solidFill>
                  <a:srgbClr val="FFFFFF"/>
                </a:solidFill>
                <a:latin typeface="Calibri"/>
              </a:rPr>
              <a:t> (DATEX 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43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Bedankt voor jullie aandacht!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1448</Words>
  <Application>Microsoft Office PowerPoint</Application>
  <PresentationFormat>Aangepast</PresentationFormat>
  <Paragraphs>247</Paragraphs>
  <Slides>19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Jack De Hert</cp:lastModifiedBy>
  <cp:revision>15</cp:revision>
  <dcterms:created xsi:type="dcterms:W3CDTF">2013-01-27T09:14:16Z</dcterms:created>
  <dcterms:modified xsi:type="dcterms:W3CDTF">2026-06-19T23:57:21Z</dcterms:modified>
  <cp:category/>
</cp:coreProperties>
</file>